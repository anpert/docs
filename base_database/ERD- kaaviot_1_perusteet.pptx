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9" r:id="rId2"/>
    <p:sldId id="256" r:id="rId3"/>
    <p:sldId id="257" r:id="rId4"/>
    <p:sldId id="275" r:id="rId5"/>
    <p:sldId id="259" r:id="rId6"/>
    <p:sldId id="260" r:id="rId7"/>
    <p:sldId id="276" r:id="rId8"/>
    <p:sldId id="261" r:id="rId9"/>
    <p:sldId id="277" r:id="rId10"/>
    <p:sldId id="262" r:id="rId11"/>
    <p:sldId id="278" r:id="rId12"/>
    <p:sldId id="279" r:id="rId13"/>
    <p:sldId id="280" r:id="rId14"/>
    <p:sldId id="263" r:id="rId15"/>
    <p:sldId id="264" r:id="rId16"/>
    <p:sldId id="281" r:id="rId17"/>
    <p:sldId id="282" r:id="rId18"/>
    <p:sldId id="283" r:id="rId19"/>
    <p:sldId id="266" r:id="rId20"/>
  </p:sldIdLst>
  <p:sldSz cx="12192000" cy="6858000"/>
  <p:notesSz cx="7104063" cy="10234613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9169C-8A8D-4CE6-A13E-9F20552AF33C}" v="1" dt="2026-01-28T14:54:18.217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eematyyli 1 - Korostu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939" autoAdjust="0"/>
  </p:normalViewPr>
  <p:slideViewPr>
    <p:cSldViewPr snapToGrid="0">
      <p:cViewPr varScale="1">
        <p:scale>
          <a:sx n="79" d="100"/>
          <a:sy n="79" d="100"/>
        </p:scale>
        <p:origin x="1830" y="2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ti Perttunen" userId="3a7455b0-1bc3-4623-8e3b-ee63f6d94295" providerId="ADAL" clId="{AFBE8601-5432-42ED-91DB-3619AE26150A}"/>
    <pc:docChg chg="modSld">
      <pc:chgData name="Antti Perttunen" userId="3a7455b0-1bc3-4623-8e3b-ee63f6d94295" providerId="ADAL" clId="{AFBE8601-5432-42ED-91DB-3619AE26150A}" dt="2026-01-28T14:54:30.447" v="24" actId="6549"/>
      <pc:docMkLst>
        <pc:docMk/>
      </pc:docMkLst>
      <pc:sldChg chg="addSp modSp mod">
        <pc:chgData name="Antti Perttunen" userId="3a7455b0-1bc3-4623-8e3b-ee63f6d94295" providerId="ADAL" clId="{AFBE8601-5432-42ED-91DB-3619AE26150A}" dt="2026-01-28T14:54:30.447" v="24" actId="6549"/>
        <pc:sldMkLst>
          <pc:docMk/>
          <pc:sldMk cId="2776949414" sldId="269"/>
        </pc:sldMkLst>
        <pc:spChg chg="add mod">
          <ac:chgData name="Antti Perttunen" userId="3a7455b0-1bc3-4623-8e3b-ee63f6d94295" providerId="ADAL" clId="{AFBE8601-5432-42ED-91DB-3619AE26150A}" dt="2026-01-28T14:54:30.447" v="24" actId="6549"/>
          <ac:spMkLst>
            <pc:docMk/>
            <pc:sldMk cId="2776949414" sldId="269"/>
            <ac:spMk id="3" creationId="{C93D8EF6-2C0F-3CB0-A111-CE847E0A2C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99495C08-7242-4233-86AC-1399CA1C6EBE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01397C08-D781-4331-863A-FA527468A3E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5559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Tänään opimme asioita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 -kaavioista eli </a:t>
            </a:r>
            <a:r>
              <a:rPr lang="fi-FI" b="1" dirty="0"/>
              <a:t>ERD-kaavioista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Aluksi tutustumme </a:t>
            </a:r>
            <a:r>
              <a:rPr lang="fi-FI" dirty="0" err="1"/>
              <a:t>ERD:n</a:t>
            </a:r>
            <a:r>
              <a:rPr lang="fi-FI" dirty="0"/>
              <a:t> yleiskuvaan</a:t>
            </a:r>
          </a:p>
          <a:p>
            <a:pPr lvl="0"/>
            <a:r>
              <a:rPr lang="fi-FI" dirty="0"/>
              <a:t>Sen jälkeen siirrymme syvemmälle ja laadimme ERD- kaavion yhdessä</a:t>
            </a:r>
          </a:p>
          <a:p>
            <a:pPr lvl="0"/>
            <a:r>
              <a:rPr lang="fi-FI" dirty="0"/>
              <a:t>Tutustumme siihen, mitä tarkoittavat entiteetit, attribuutit, </a:t>
            </a:r>
            <a:r>
              <a:rPr lang="fi-FI" dirty="0" err="1"/>
              <a:t>relatiot</a:t>
            </a:r>
            <a:r>
              <a:rPr lang="fi-FI" dirty="0"/>
              <a:t> ja </a:t>
            </a:r>
            <a:r>
              <a:rPr lang="fi-FI" dirty="0" err="1"/>
              <a:t>kardinaliteetit</a:t>
            </a:r>
            <a:endParaRPr lang="fi-FI" dirty="0"/>
          </a:p>
          <a:p>
            <a:pPr lvl="0"/>
            <a:r>
              <a:rPr lang="fi-FI" dirty="0"/>
              <a:t>Tavoitteena on, että tämän kaiken jälkeen osaat rakentaa kokonaisen ERD- kaavion alusta loppuun aivan itse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12918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Oletko koskaan miettinyt, miksi saat virheilmoituksen, jonka mukaan haluamasi käyttäjänimi sosiaalisessa mediassa on jo varattu? Tai miten verkkokauppa, kuten Amazon, pystyy seuraamaan niin monia tilauksia, asiakkaita ja tuotteita?</a:t>
            </a:r>
          </a:p>
          <a:p>
            <a:pPr lvl="0"/>
            <a:r>
              <a:rPr lang="fi-FI" dirty="0"/>
              <a:t>Vastaus näihin kysymyksiin löytyy </a:t>
            </a:r>
            <a:r>
              <a:rPr lang="fi-FI" b="1" dirty="0"/>
              <a:t>tietokannasta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Tietokanta on kokoelma tietoa, joka on järjestetty siten, että se on helppo tallentaa, hallita, päivittää ja hakea. 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27804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9B97-C188-1B71-135C-91B9AAF7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8BE24172-1875-F84C-C814-410074477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4E0F4CE-1B04-0EAA-2F79-460A2B56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Kuten voit kuvitella, tietokannassa on paljon liikkuvia osia, ja niiden keskinäisten suhteiden ymmärtäminen voi olla hankalaa.</a:t>
            </a:r>
          </a:p>
          <a:p>
            <a:pPr lvl="0"/>
            <a:endParaRPr lang="fi-FI" dirty="0"/>
          </a:p>
          <a:p>
            <a:pPr lvl="0"/>
            <a:endParaRPr lang="fi-FI" dirty="0"/>
          </a:p>
          <a:p>
            <a:pPr lvl="0"/>
            <a:r>
              <a:rPr lang="fi-FI" b="1" dirty="0"/>
              <a:t>ERD-kaaviot</a:t>
            </a:r>
            <a:r>
              <a:rPr lang="fi-FI" dirty="0"/>
              <a:t> tarjoavat ohjelmistokehittäjille visuaalisen tavan ymmärtää, miten tietokantaan talletettavat tiedot liittyvät toisiinsa ja toimivat yhdessä.</a:t>
            </a:r>
          </a:p>
          <a:p>
            <a:pPr lvl="0"/>
            <a:r>
              <a:rPr lang="fi-FI" dirty="0"/>
              <a:t>Kun olet tehnyt tietokantasi </a:t>
            </a:r>
            <a:r>
              <a:rPr lang="fi-FI" dirty="0" err="1"/>
              <a:t>ERD:n</a:t>
            </a:r>
            <a:r>
              <a:rPr lang="fi-FI" dirty="0"/>
              <a:t> hyvin, on varsinaisen tietokannan tekeminen helppoa.</a:t>
            </a:r>
          </a:p>
          <a:p>
            <a:pPr lvl="0"/>
            <a:r>
              <a:rPr lang="fi-FI" dirty="0"/>
              <a:t>ERD helpottaa myös sen koodin tekemistä, jolla tietokantaa käytetään</a:t>
            </a:r>
          </a:p>
          <a:p>
            <a:pPr lvl="0"/>
            <a:r>
              <a:rPr lang="fi-FI" dirty="0"/>
              <a:t>Ja ERD auttaa vikojen etsinnässä</a:t>
            </a:r>
          </a:p>
          <a:p>
            <a:pPr lvl="0"/>
            <a:endParaRPr lang="fi-FI" dirty="0"/>
          </a:p>
          <a:p>
            <a:pPr lvl="0"/>
            <a:r>
              <a:rPr lang="fi-FI" b="1" dirty="0"/>
              <a:t>ERD-kaaviot</a:t>
            </a:r>
            <a:r>
              <a:rPr lang="fi-FI" dirty="0"/>
              <a:t> tarjoavat ohjelmistokehittäjille visuaalisen tavan ymmärtää, miten nämä tiedot liittyvät toisiinsa ja toimivat yhdessä.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3EE5AE0-D074-BD99-7DC3-61B1D23FE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2148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ERD-kaavion rakentaminen alkaa sen osatekijöiden ymmärtämisestä. Ensimmäinen niistä on </a:t>
            </a:r>
            <a:r>
              <a:rPr lang="fi-FI" b="1" dirty="0"/>
              <a:t>entiteetti</a:t>
            </a:r>
            <a:r>
              <a:rPr lang="fi-FI" dirty="0"/>
              <a:t>.</a:t>
            </a:r>
          </a:p>
          <a:p>
            <a:pPr lvl="0"/>
            <a:r>
              <a:rPr lang="fi-FI" dirty="0"/>
              <a:t>Entiteetti on objekti – kuten henkilö, paikka tai asia – jota seurataan tietokannassa. Jos ostaisimme Amazonista jotakin, vaikkapa huippusiistit </a:t>
            </a:r>
            <a:r>
              <a:rPr lang="fi-FI" dirty="0" err="1"/>
              <a:t>Crocsit</a:t>
            </a:r>
            <a:r>
              <a:rPr lang="fi-FI" dirty="0"/>
              <a:t> (nämä eivät ole ne </a:t>
            </a:r>
            <a:r>
              <a:rPr lang="fi-FI" dirty="0" err="1"/>
              <a:t>droidit</a:t>
            </a:r>
            <a:r>
              <a:rPr lang="fi-FI" dirty="0"/>
              <a:t>, joita etsimme), entiteettejä voisivat olla:</a:t>
            </a:r>
          </a:p>
          <a:p>
            <a:pPr lvl="0"/>
            <a:r>
              <a:rPr lang="fi-FI" dirty="0"/>
              <a:t>asiakas</a:t>
            </a:r>
          </a:p>
          <a:p>
            <a:pPr lvl="0"/>
            <a:r>
              <a:rPr lang="fi-FI" dirty="0"/>
              <a:t>tilaus</a:t>
            </a:r>
          </a:p>
          <a:p>
            <a:pPr lvl="0"/>
            <a:r>
              <a:rPr lang="fi-FI" dirty="0"/>
              <a:t>tuote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7990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Jokaisella entiteetillä on </a:t>
            </a:r>
            <a:r>
              <a:rPr lang="fi-FI" b="1" dirty="0"/>
              <a:t>attribuutteja</a:t>
            </a:r>
            <a:r>
              <a:rPr lang="fi-FI" dirty="0"/>
              <a:t>, eli ominaisuuksia tai piirteitä. Asiakas-entiteetin attribuutteja voisivat olla esimerkiksi:</a:t>
            </a:r>
          </a:p>
          <a:p>
            <a:pPr lvl="0"/>
            <a:r>
              <a:rPr lang="fi-FI" dirty="0"/>
              <a:t>asiakas-ID</a:t>
            </a:r>
          </a:p>
          <a:p>
            <a:pPr lvl="0"/>
            <a:r>
              <a:rPr lang="fi-FI" dirty="0"/>
              <a:t>etunimi</a:t>
            </a:r>
          </a:p>
          <a:p>
            <a:pPr lvl="0"/>
            <a:r>
              <a:rPr lang="fi-FI" dirty="0"/>
              <a:t>sukunimi</a:t>
            </a:r>
          </a:p>
          <a:p>
            <a:pPr lvl="0"/>
            <a:r>
              <a:rPr lang="fi-FI" dirty="0"/>
              <a:t>katuosoite</a:t>
            </a:r>
          </a:p>
          <a:p>
            <a:pPr lvl="0"/>
            <a:r>
              <a:rPr lang="fi-FI" dirty="0"/>
              <a:t>kaupunki</a:t>
            </a:r>
          </a:p>
          <a:p>
            <a:pPr lvl="0"/>
            <a:r>
              <a:rPr lang="fi-FI" dirty="0"/>
              <a:t>postinumero</a:t>
            </a:r>
          </a:p>
          <a:p>
            <a:pPr lvl="0"/>
            <a:r>
              <a:rPr lang="fi-FI" dirty="0"/>
              <a:t>puhelinnumero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3198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07A6-5355-976A-6002-A2D26296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A5E5BD45-E688-717E-902B-0B08168E5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A9674C04-FC8D-2A50-1011-BC25FB91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AA27F8A-A22B-CA8C-8B7F-C204FA909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5122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Kun entiteetit ja attribuutit ovat paikallaan, voimme tarkastella </a:t>
            </a:r>
            <a:r>
              <a:rPr lang="fi-FI" b="1" dirty="0"/>
              <a:t>suhteita</a:t>
            </a:r>
            <a:r>
              <a:rPr lang="fi-FI" dirty="0"/>
              <a:t>. Suhteet kuvaavat, miten entiteetit ovat vuorovaikutuksessa keskenään.</a:t>
            </a:r>
          </a:p>
          <a:p>
            <a:pPr lvl="0"/>
            <a:r>
              <a:rPr lang="fi-FI" dirty="0"/>
              <a:t>Kun piirrän viivan kahden entiteetin väliin, osoitan, että niiden välillä on jonkinlainen yhteys tai toiminnallinen suhde.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840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8521-954C-2C3D-6543-45C07D42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F80693FB-EDF1-BC58-C4BF-0836F2AB4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3822C3B0-5941-D419-2181-D08FE0A65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Kun entiteetit ja attribuutit ovat paikallaan, voimme tarkastella </a:t>
            </a:r>
            <a:r>
              <a:rPr lang="fi-FI" b="1" dirty="0"/>
              <a:t>suhteita</a:t>
            </a:r>
            <a:r>
              <a:rPr lang="fi-FI" dirty="0"/>
              <a:t>. Suhteet kuvaavat, miten entiteetit ovat vuorovaikutuksessa keskenään.</a:t>
            </a:r>
          </a:p>
          <a:p>
            <a:pPr lvl="0"/>
            <a:r>
              <a:rPr lang="fi-FI" dirty="0"/>
              <a:t>Kun piirrän viivan kahden entiteetin väliin, osoitan, että niiden välillä on jonkinlainen yhteys tai toiminnallinen suhde.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FD5F45E-0DFF-372D-C7F2-39D4E2D74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22319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2478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AB12-678F-E3DE-A608-E32E8E23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A52ED977-C4D6-5C72-9582-80D9ECC20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7BDAC600-3FC0-84BD-05FA-B97592CEF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2B8C742-727A-1BFA-B192-8212C89F4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12325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3AF9-EC0D-C8CD-A57E-6255343E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117C315F-BF93-29F8-3531-5AEF9CE6D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59EE4E5-EFB7-B22E-7874-7BA586574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2A09755-F58B-AF47-6415-E616F3997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1311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281A-E683-D7B7-C340-99DF6094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40F42C6C-83B2-A750-833C-B8E3F7337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FE97EE5-E0B0-9B48-1AE4-61AFBD814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A76C7873-3762-8D69-8132-0710F6342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45224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Tarkastellaan ensin asiakkaan ja tilauksen välistä suhdetta. Paras tapa tehdä tämä on kysyä kaksi kysymystä:</a:t>
            </a:r>
          </a:p>
          <a:p>
            <a:pPr lvl="0"/>
            <a:r>
              <a:rPr lang="fi-FI" dirty="0"/>
              <a:t>Mikä on </a:t>
            </a:r>
            <a:r>
              <a:rPr lang="fi-FI" b="1" dirty="0"/>
              <a:t>vähimmäismäärä tilauksia</a:t>
            </a:r>
            <a:r>
              <a:rPr lang="fi-FI" dirty="0"/>
              <a:t>, joita asiakkaalla voi olla?</a:t>
            </a:r>
          </a:p>
          <a:p>
            <a:pPr lvl="0"/>
            <a:r>
              <a:rPr lang="fi-FI" dirty="0"/>
              <a:t>Mikä on </a:t>
            </a:r>
            <a:r>
              <a:rPr lang="fi-FI" b="1" dirty="0"/>
              <a:t>enimmäismäärä tilauksia</a:t>
            </a:r>
            <a:r>
              <a:rPr lang="fi-FI" dirty="0"/>
              <a:t>, joita asiakkaalla voi olla?</a:t>
            </a:r>
          </a:p>
          <a:p>
            <a:pPr lvl="0"/>
            <a:r>
              <a:rPr lang="fi-FI" dirty="0"/>
              <a:t>Asiakas voi olla olemassa ilman yhtäkään tilausta – siis </a:t>
            </a:r>
            <a:r>
              <a:rPr lang="fi-FI" b="1" dirty="0"/>
              <a:t>0 tilausta</a:t>
            </a:r>
            <a:r>
              <a:rPr lang="fi-FI" dirty="0"/>
              <a:t>. Toisaalta asiakkaalla voi olla </a:t>
            </a:r>
            <a:r>
              <a:rPr lang="fi-FI" b="1" dirty="0"/>
              <a:t>rajaton määrä tilauksia</a:t>
            </a:r>
            <a:r>
              <a:rPr lang="fi-FI" dirty="0"/>
              <a:t>, etenkin jos puhutaan </a:t>
            </a:r>
            <a:r>
              <a:rPr lang="fi-FI" dirty="0" err="1"/>
              <a:t>Crocseista</a:t>
            </a:r>
            <a:r>
              <a:rPr lang="fi-FI" dirty="0"/>
              <a:t> – yhtä paria ei koskaan riitä.</a:t>
            </a:r>
          </a:p>
          <a:p>
            <a:pPr lvl="0"/>
            <a:r>
              <a:rPr lang="fi-FI" dirty="0"/>
              <a:t>Tämä kuvataan merkinnällä </a:t>
            </a:r>
            <a:r>
              <a:rPr lang="fi-FI" b="1" dirty="0"/>
              <a:t>0 tai monta</a:t>
            </a:r>
            <a:r>
              <a:rPr lang="fi-FI" dirty="0"/>
              <a:t> (ns. harakanvarvas-notaatio).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83882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Käännetään nyt kysymys toisin päin:</a:t>
            </a:r>
          </a:p>
          <a:p>
            <a:pPr lvl="0"/>
            <a:r>
              <a:rPr lang="fi-FI" dirty="0"/>
              <a:t>Kuinka monta asiakasta yhdellä tilauksella voi olla?</a:t>
            </a:r>
          </a:p>
          <a:p>
            <a:pPr lvl="0"/>
            <a:r>
              <a:rPr lang="fi-FI" dirty="0"/>
              <a:t>Yhdellä tietyllä tilauksella voi olla </a:t>
            </a:r>
            <a:r>
              <a:rPr lang="fi-FI" b="1" dirty="0"/>
              <a:t>yksi ja vain yksi asiakas</a:t>
            </a:r>
            <a:r>
              <a:rPr lang="fi-FI" dirty="0"/>
              <a:t>. Kuvittele, miten sekavaa olisi, jos yhdellä tilauksella olisi monta eri asiakasta.</a:t>
            </a:r>
          </a:p>
          <a:p>
            <a:pPr lvl="0"/>
            <a:r>
              <a:rPr lang="fi-FI" dirty="0"/>
              <a:t>Tämä suhde merkitään </a:t>
            </a:r>
            <a:r>
              <a:rPr lang="fi-FI" b="1" dirty="0"/>
              <a:t>yksi ja vain yksi</a:t>
            </a:r>
            <a:r>
              <a:rPr lang="fi-FI" dirty="0"/>
              <a:t> -notaatioilla.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8341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7684">
              <a:defRPr/>
            </a:pPr>
            <a:r>
              <a:rPr lang="fi-FI" dirty="0"/>
              <a:t>Ja näin olemme rakentaneet kokonaisen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 -kaavion. Vaikka esimerkki on yksinkertainen, sinulla on nyt perustaidot monimutkaisempien ERD-kaavioiden laatimiseen.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3385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58976A-7AE2-6002-5D97-578D0A25A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E124C894-245D-F56A-7802-E0496710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B461245-7B45-20AF-DA8C-B7AD4248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3492C51-2490-9B3E-0C8B-DC4EC90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5BFC18B-6101-AB9E-7290-E42CA233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547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215DDBE-51F3-6792-2E6E-BDCB3BEE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A24CC22-291E-622F-86F1-E003DB85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146C943-827A-EA6F-6886-4AB2FD7C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41758D3-FEE9-C0F6-EA1D-74D62300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8767F0B-28CF-EBB6-EBD3-E52DA12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903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7542EA2-C28B-2D54-163F-A9DFCA83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7C9324F-976A-F4D3-7BA5-95D6113F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6DEB96-61F5-C4FB-1EE7-F09276C4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680A73B-93D7-EF5C-3990-58886410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05D4D29-A616-457A-6B19-98394773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538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9195F9-7F1D-890E-1C8B-AB39615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512692F-BF85-56FA-A153-3AB43E79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494D9FB-C8D4-C051-AB27-0B5CFFFE5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945AC3EC-2B3F-9511-2E28-6E7B4D23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0D560AF1-7EDF-2729-7F3E-B706890D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E3AC754-6851-3866-55BC-9FC0A2BC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789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6C6D9B0-F743-96A2-E02C-BBA29A6F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6A5A0A5-D5EF-03FD-F2CE-8A60385B0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2719458-25C3-E428-1B2F-1C963629B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C11DEFF1-60AE-576D-7F05-431F66F0B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5C5467A2-4205-3061-1DE9-2029F3F9E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6C6B364-7E23-29E4-CF92-E3678C89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59C0A34-FB90-5D7D-6DBB-2BDCD954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F7B5C5D4-191C-02C6-571C-45C21AD1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49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FFA054-CE66-8E3F-0B28-7CDC826C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DCDE7090-2EF4-5C71-B098-BBCBF3E7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73F1909-ADA8-713E-2735-BA55E1C5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BF18332-CB29-CD4D-1931-ADEB0F62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070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2463E1EB-13CE-0B98-4375-EB038C03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AB947B9F-700A-0139-42AB-6C6B5718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F51E3B3-9891-AF18-003D-95193DEB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6583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908482-FEA5-0DEE-785D-A24D80C2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67176E-9140-BD47-D4CA-B89DC06F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FF395A06-37C7-9DDE-6CD8-F111962B0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08BE708-079A-DA60-43C6-670E2F6F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A15F6AE-9B8C-A09C-8665-9AAE4552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49F29406-643B-2F1D-BDDE-47FD382F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258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DE6332-498B-BE4C-DF95-9632C5C7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26BE2EA0-1790-1C8A-25FE-4271B6A55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614F0B6B-BB69-A947-B3C6-F133449FA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F01F7A90-81B1-2308-3972-13EA9B70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D2D9479-810A-7454-0AB1-BB671FFD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DF98EC5-E469-3A8E-97DC-DEE81F21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177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5B5CFF1-D87E-C403-FDF8-E7A63FE0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4939835-9A81-FC88-E734-FA9D94EFA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1ACE20-6614-3BD7-3D4B-0F6F69DE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20F7CBD-E7B9-62FE-0A6D-D842A542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AC76630-4FE3-DFC9-5D06-E8E05029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12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ACF85271-4ADB-38AC-3735-7CFEAC8E7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958B1153-D835-81F7-85F9-626244236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CDE8DCF-ADF3-49FD-8E00-DB66608A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D06C3E1-6D4A-617E-6412-1DC53E3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1B4EC36-DA70-D21D-0C78-AB489AC9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905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17F6AFA-12C1-D392-1FD1-CD0293C1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F32B59E-FF66-D44F-0F94-C0940D3A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EBC691E-CF40-214E-4156-C56033B0C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0775867-01F5-4C77-5BA5-068B8566C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1FF413A-9F74-B81B-ED96-DE42B0B86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557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B8FFFE87-F629-3404-C4C4-347948AA34F6}"/>
              </a:ext>
            </a:extLst>
          </p:cNvPr>
          <p:cNvSpPr/>
          <p:nvPr/>
        </p:nvSpPr>
        <p:spPr>
          <a:xfrm>
            <a:off x="4137891" y="2724727"/>
            <a:ext cx="3990109" cy="1496291"/>
          </a:xfrm>
          <a:prstGeom prst="roundRect">
            <a:avLst/>
          </a:prstGeom>
          <a:solidFill>
            <a:srgbClr val="0037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1BF3963C-1E95-9D7F-D326-42378EDB7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001818"/>
            <a:ext cx="10058400" cy="898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i-FI" sz="5200" dirty="0">
                <a:solidFill>
                  <a:srgbClr val="FFFFFF"/>
                </a:solidFill>
              </a:rPr>
              <a:t>ERD- kaaviot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C93D8EF6-2C0F-3CB0-A111-CE847E0A2CAF}"/>
              </a:ext>
            </a:extLst>
          </p:cNvPr>
          <p:cNvSpPr txBox="1"/>
          <p:nvPr/>
        </p:nvSpPr>
        <p:spPr>
          <a:xfrm>
            <a:off x="4963886" y="3715662"/>
            <a:ext cx="2384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>
                <a:solidFill>
                  <a:schemeClr val="bg1"/>
                </a:solidFill>
              </a:rPr>
              <a:t>Osa 1: Yleistä </a:t>
            </a:r>
            <a:r>
              <a:rPr lang="fi-FI" dirty="0" err="1">
                <a:solidFill>
                  <a:schemeClr val="bg1"/>
                </a:solidFill>
              </a:rPr>
              <a:t>ERD:stä</a:t>
            </a:r>
            <a:endParaRPr lang="fi-FI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94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4BCAB5-6E1C-EFAE-8D42-34ADB6F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1" dirty="0"/>
              <a:t>Johdanto: ER- kaaviot (ERD)</a:t>
            </a:r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4FD878-A7C5-DCB9-464B-6DBAE6F2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6309" cy="4351338"/>
          </a:xfrm>
        </p:spPr>
        <p:txBody>
          <a:bodyPr>
            <a:normAutofit/>
          </a:bodyPr>
          <a:lstStyle/>
          <a:p>
            <a:pPr lvl="0"/>
            <a:r>
              <a:rPr lang="fi-FI" dirty="0" err="1"/>
              <a:t>Entity</a:t>
            </a:r>
            <a:r>
              <a:rPr lang="fi-FI" dirty="0"/>
              <a:t> </a:t>
            </a:r>
            <a:r>
              <a:rPr lang="fi-FI" dirty="0" err="1"/>
              <a:t>Relationship</a:t>
            </a:r>
            <a:r>
              <a:rPr lang="fi-FI" dirty="0"/>
              <a:t> </a:t>
            </a:r>
            <a:r>
              <a:rPr lang="fi-FI" dirty="0" err="1"/>
              <a:t>Diagram</a:t>
            </a:r>
            <a:endParaRPr lang="fi-FI" dirty="0"/>
          </a:p>
          <a:p>
            <a:pPr lvl="1"/>
            <a:r>
              <a:rPr lang="fi-FI" dirty="0"/>
              <a:t>ER- kaavio, ERD</a:t>
            </a:r>
          </a:p>
          <a:p>
            <a:r>
              <a:rPr lang="fi-FI" dirty="0"/>
              <a:t>ERD yleiskuva</a:t>
            </a:r>
          </a:p>
          <a:p>
            <a:r>
              <a:rPr lang="fi-FI" dirty="0"/>
              <a:t>Entiteetit, attribuutit, </a:t>
            </a:r>
            <a:r>
              <a:rPr lang="fi-FI" b="1" dirty="0"/>
              <a:t>relaatiot</a:t>
            </a:r>
            <a:r>
              <a:rPr lang="fi-FI" dirty="0"/>
              <a:t> ja </a:t>
            </a:r>
            <a:r>
              <a:rPr lang="fi-FI" dirty="0" err="1"/>
              <a:t>kardinaliteetit</a:t>
            </a:r>
            <a:endParaRPr lang="fi-FI" dirty="0"/>
          </a:p>
          <a:p>
            <a:r>
              <a:rPr lang="fi-FI" dirty="0"/>
              <a:t>Tavoitteena oppia </a:t>
            </a:r>
            <a:r>
              <a:rPr lang="fi-FI" dirty="0" err="1"/>
              <a:t>ERD:n</a:t>
            </a:r>
            <a:r>
              <a:rPr lang="fi-FI" dirty="0"/>
              <a:t> tekeminen alusta loppuun asti itse</a:t>
            </a:r>
          </a:p>
          <a:p>
            <a:endParaRPr lang="fi-FI" dirty="0"/>
          </a:p>
          <a:p>
            <a:endParaRPr lang="fi-FI" dirty="0"/>
          </a:p>
        </p:txBody>
      </p:sp>
      <p:pic>
        <p:nvPicPr>
          <p:cNvPr id="5" name="Kuva 4" descr="Kuva, joka sisältää kohteen teksti, kuvakaappaus, Fontti, tulostaulu&#10;&#10;Tekoälyllä luotu sisältö voi olla virheellistä.">
            <a:extLst>
              <a:ext uri="{FF2B5EF4-FFF2-40B4-BE49-F238E27FC236}">
                <a16:creationId xmlns:a16="http://schemas.microsoft.com/office/drawing/2014/main" id="{F5CD2392-94FA-7838-964B-8DD707537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618" y="151238"/>
            <a:ext cx="3145041" cy="65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4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68DEAF5-981D-F021-DB6A-01517C63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Ensin kuitenkin…</a:t>
            </a:r>
            <a:br>
              <a:rPr lang="fi-FI" b="1" dirty="0"/>
            </a:br>
            <a:r>
              <a:rPr lang="fi-FI" b="1" dirty="0"/>
              <a:t>Miksi tietokantoja tarvitaan?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C3ADC3E-E759-8507-939C-07803294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i-FI" dirty="0"/>
              <a:t>Miten …</a:t>
            </a:r>
          </a:p>
          <a:p>
            <a:pPr lvl="1"/>
            <a:r>
              <a:rPr lang="fi-FI" i="1" dirty="0"/>
              <a:t>sähköpostijärjestelmä tietää, että jokin käyttäjänimi on jo valittu?</a:t>
            </a:r>
          </a:p>
          <a:p>
            <a:pPr lvl="1"/>
            <a:r>
              <a:rPr lang="fi-FI" i="1" dirty="0"/>
              <a:t>verkkokauppa tietää, että myytävänä on enää 150 paria lenkkareita?</a:t>
            </a:r>
          </a:p>
          <a:p>
            <a:pPr lvl="1"/>
            <a:r>
              <a:rPr lang="fi-FI" i="1" dirty="0"/>
              <a:t>kirjasto tietää, kenellä mikäkin kirja on lainassa?</a:t>
            </a:r>
          </a:p>
          <a:p>
            <a:pPr lvl="1"/>
            <a:r>
              <a:rPr lang="fi-FI" i="1" dirty="0"/>
              <a:t>Kenelle kuuluu auto, jonka rekisteritunnus on ABC-123?</a:t>
            </a:r>
          </a:p>
          <a:p>
            <a:pPr lvl="0"/>
            <a:r>
              <a:rPr lang="fi-FI" dirty="0"/>
              <a:t>Vastaus: tieto löytyy tietokannasta</a:t>
            </a:r>
          </a:p>
          <a:p>
            <a:pPr lvl="0"/>
            <a:r>
              <a:rPr lang="fi-FI" dirty="0"/>
              <a:t>Tietokanta: tiedon järjestäminen niin, että on helppo löytää, hallita, muuttaa, hakea…</a:t>
            </a:r>
          </a:p>
          <a:p>
            <a:pPr lvl="0"/>
            <a:r>
              <a:rPr lang="fi-FI" dirty="0">
                <a:sym typeface="Wingdings" panose="05000000000000000000" pitchFamily="2" charset="2"/>
              </a:rPr>
              <a:t>Tietokantoja ovat monesti myös rekisterit, arkistot, hakemistot jne.</a:t>
            </a:r>
          </a:p>
        </p:txBody>
      </p:sp>
    </p:spTree>
    <p:extLst>
      <p:ext uri="{BB962C8B-B14F-4D97-AF65-F5344CB8AC3E}">
        <p14:creationId xmlns:p14="http://schemas.microsoft.com/office/powerpoint/2010/main" val="133902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D518-3444-C390-B06C-A04CC3E9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82D8C54-2049-1DC2-B045-A4A937FA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Tietokantojen suunnittelu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6D8EA0-F231-5BD3-62A0-2E113D80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i-FI" dirty="0"/>
              <a:t>Tietokannoissa on paljon tietoa</a:t>
            </a:r>
          </a:p>
          <a:p>
            <a:pPr lvl="0"/>
            <a:r>
              <a:rPr lang="fi-FI" dirty="0"/>
              <a:t>Talletettava tieto pitää saada talletettua loogisesti</a:t>
            </a:r>
          </a:p>
          <a:p>
            <a:pPr lvl="0"/>
            <a:r>
              <a:rPr lang="fi-FI" dirty="0"/>
              <a:t>Ja sen haun pitäisi olla nopeaa</a:t>
            </a:r>
          </a:p>
          <a:p>
            <a:pPr lvl="0"/>
            <a:r>
              <a:rPr lang="fi-FI" dirty="0"/>
              <a:t>Paljon tietoa, mutkikasta asiaa</a:t>
            </a:r>
          </a:p>
          <a:p>
            <a:pPr lvl="0"/>
            <a:r>
              <a:rPr lang="fi-FI" dirty="0"/>
              <a:t>Tähän apuun ERD. ERD…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helpottaa tietokannan suunnittelua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kuvaa, miten mikäkin tieto liittyy toiseen tietoon 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miten talletetut tiedot toimivat yhdessä</a:t>
            </a:r>
          </a:p>
          <a:p>
            <a:pPr lvl="1"/>
            <a:endParaRPr lang="fi-FI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7593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6B389A4-780B-4E57-BD79-47262244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/>
              <a:t>Entiteetit: </a:t>
            </a:r>
            <a:r>
              <a:rPr lang="fi-FI" b="1" dirty="0" err="1"/>
              <a:t>ERD:n</a:t>
            </a:r>
            <a:r>
              <a:rPr lang="fi-FI" b="1" dirty="0"/>
              <a:t> perusyksiköt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127095B-ADE5-6BCA-4A4B-2B690660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i-FI" dirty="0"/>
              <a:t>ERD- kaavioissa on muutamia osia, joiden ymmärtäminen on tärkeää.</a:t>
            </a:r>
          </a:p>
          <a:p>
            <a:pPr lvl="0"/>
            <a:r>
              <a:rPr lang="fi-FI" dirty="0"/>
              <a:t>Ensimmäisenä on </a:t>
            </a:r>
            <a:r>
              <a:rPr lang="fi-FI" b="1" dirty="0"/>
              <a:t>entiteetti</a:t>
            </a:r>
            <a:endParaRPr lang="fi-FI" dirty="0"/>
          </a:p>
          <a:p>
            <a:pPr lvl="0"/>
            <a:r>
              <a:rPr lang="fi-FI" dirty="0"/>
              <a:t>Entiteetti on tavallaan objekti, olio, jolla on erilaisia ominaisuuksia.</a:t>
            </a:r>
          </a:p>
          <a:p>
            <a:pPr lvl="0"/>
            <a:r>
              <a:rPr lang="fi-FI" dirty="0"/>
              <a:t>Esimerkiksi jos tilaisimme jotain verkkokaupassa, vaikka T-paidan, </a:t>
            </a:r>
            <a:r>
              <a:rPr lang="fi-FI" b="1" dirty="0"/>
              <a:t>entiteettejä</a:t>
            </a:r>
            <a:r>
              <a:rPr lang="fi-FI" dirty="0"/>
              <a:t> voisi olla vaikka</a:t>
            </a:r>
          </a:p>
          <a:p>
            <a:pPr lvl="1"/>
            <a:r>
              <a:rPr lang="fi-FI" b="1" dirty="0"/>
              <a:t>Tuote</a:t>
            </a:r>
            <a:r>
              <a:rPr lang="fi-FI" dirty="0"/>
              <a:t> (se T-paita, jota ollaan tilaamassa)</a:t>
            </a:r>
          </a:p>
          <a:p>
            <a:pPr lvl="1"/>
            <a:r>
              <a:rPr lang="fi-FI" b="1" dirty="0"/>
              <a:t>Asiakas</a:t>
            </a:r>
            <a:r>
              <a:rPr lang="fi-FI" dirty="0"/>
              <a:t> (se henkilö, joka tilaa)</a:t>
            </a:r>
          </a:p>
          <a:p>
            <a:pPr lvl="1"/>
            <a:r>
              <a:rPr lang="fi-FI" b="1" dirty="0"/>
              <a:t>Tilaus</a:t>
            </a:r>
            <a:r>
              <a:rPr lang="fi-FI" dirty="0"/>
              <a:t> (se tilaustapahtuma, joka tänään tehdään)</a:t>
            </a:r>
          </a:p>
          <a:p>
            <a:pPr lvl="0"/>
            <a:endParaRPr lang="fi-FI" dirty="0"/>
          </a:p>
        </p:txBody>
      </p:sp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97ADE889-CEF9-2F17-EF39-D236A027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698"/>
          <a:stretch>
            <a:fillRect/>
          </a:stretch>
        </p:blipFill>
        <p:spPr>
          <a:xfrm>
            <a:off x="9439274" y="4771235"/>
            <a:ext cx="1914525" cy="465420"/>
          </a:xfrm>
          <a:prstGeom prst="rect">
            <a:avLst/>
          </a:prstGeom>
        </p:spPr>
      </p:pic>
      <p:pic>
        <p:nvPicPr>
          <p:cNvPr id="7" name="Kuva 6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AD497E1E-8220-4B48-DC9F-75F8618CE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060" b="32745"/>
          <a:stretch>
            <a:fillRect/>
          </a:stretch>
        </p:blipFill>
        <p:spPr>
          <a:xfrm>
            <a:off x="9335366" y="5501768"/>
            <a:ext cx="1914525" cy="410082"/>
          </a:xfrm>
          <a:prstGeom prst="rect">
            <a:avLst/>
          </a:prstGeom>
        </p:spPr>
      </p:pic>
      <p:sp>
        <p:nvSpPr>
          <p:cNvPr id="23" name="Suorakulmio 22">
            <a:extLst>
              <a:ext uri="{FF2B5EF4-FFF2-40B4-BE49-F238E27FC236}">
                <a16:creationId xmlns:a16="http://schemas.microsoft.com/office/drawing/2014/main" id="{ACCDF729-9633-9DF0-5ABE-0D80C6E2E30C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24" name="Suorakulmio 23">
            <a:extLst>
              <a:ext uri="{FF2B5EF4-FFF2-40B4-BE49-F238E27FC236}">
                <a16:creationId xmlns:a16="http://schemas.microsoft.com/office/drawing/2014/main" id="{C7314B40-63ED-A30D-43ED-A7BA252BF560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25" name="Suorakulmio 24">
            <a:extLst>
              <a:ext uri="{FF2B5EF4-FFF2-40B4-BE49-F238E27FC236}">
                <a16:creationId xmlns:a16="http://schemas.microsoft.com/office/drawing/2014/main" id="{0448E313-CC62-0CD3-330A-5B55F864B4EC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6" name="Suorakulmio 25">
            <a:extLst>
              <a:ext uri="{FF2B5EF4-FFF2-40B4-BE49-F238E27FC236}">
                <a16:creationId xmlns:a16="http://schemas.microsoft.com/office/drawing/2014/main" id="{F34F0237-AD5C-C1F6-CD51-940CA35F6DB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9" name="Tekstiruutu 18">
            <a:extLst>
              <a:ext uri="{FF2B5EF4-FFF2-40B4-BE49-F238E27FC236}">
                <a16:creationId xmlns:a16="http://schemas.microsoft.com/office/drawing/2014/main" id="{46534B4E-9670-E5B2-020E-7ECBE7790A88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39981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1F3B3F4-0D93-6C36-23C6-F5607353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Attribuutit: entiteettien ominaisuudet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901A336-B44D-81C1-6C88-8CDDC6E15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90709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Entiteeteillä on ominaisuuksia ja piirteitä</a:t>
            </a:r>
          </a:p>
          <a:p>
            <a:pPr lvl="0"/>
            <a:r>
              <a:rPr lang="fi-FI" dirty="0"/>
              <a:t>Näitä kutsutaan </a:t>
            </a:r>
            <a:r>
              <a:rPr lang="fi-FI" b="1" dirty="0"/>
              <a:t>attribuuteiksi</a:t>
            </a:r>
          </a:p>
          <a:p>
            <a:r>
              <a:rPr lang="fi-FI" b="1" dirty="0"/>
              <a:t>Asiakas-</a:t>
            </a:r>
            <a:r>
              <a:rPr lang="fi-FI" dirty="0"/>
              <a:t> entiteetin attribuutteja voisi olla vaikka</a:t>
            </a:r>
            <a:br>
              <a:rPr lang="fi-FI" dirty="0"/>
            </a:br>
            <a:r>
              <a:rPr lang="fi-FI" dirty="0"/>
              <a:t>nimi, osoite, asiakasnumero, ..</a:t>
            </a:r>
          </a:p>
          <a:p>
            <a:r>
              <a:rPr lang="fi-FI" dirty="0"/>
              <a:t>Vastaavasti  </a:t>
            </a:r>
            <a:r>
              <a:rPr lang="fi-FI" b="1" dirty="0"/>
              <a:t>tuotteella</a:t>
            </a:r>
            <a:r>
              <a:rPr lang="fi-FI" dirty="0"/>
              <a:t> olisi tuotenumero, väri, koko, materiaali…</a:t>
            </a:r>
          </a:p>
          <a:p>
            <a:r>
              <a:rPr lang="fi-FI" dirty="0"/>
              <a:t>ERD</a:t>
            </a:r>
            <a:r>
              <a:rPr lang="fi-FI" baseline="30000" dirty="0"/>
              <a:t>(1</a:t>
            </a:r>
            <a:r>
              <a:rPr lang="fi-FI" dirty="0"/>
              <a:t>:ssä entiteetit kuvataan laatikkoina, joissa</a:t>
            </a:r>
          </a:p>
          <a:p>
            <a:pPr lvl="1"/>
            <a:r>
              <a:rPr lang="fi-FI" dirty="0"/>
              <a:t>Entiteetin nimi on ylhäällä keskellä isoilla kirjaimilla</a:t>
            </a:r>
          </a:p>
          <a:p>
            <a:pPr lvl="1"/>
            <a:r>
              <a:rPr lang="fi-FI" dirty="0"/>
              <a:t>Attribuutit (niiden tyyppi ja nimi) ovat vaakariveillä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69B79B20-3189-F523-EC23-02FC4C084476}"/>
              </a:ext>
            </a:extLst>
          </p:cNvPr>
          <p:cNvSpPr txBox="1"/>
          <p:nvPr/>
        </p:nvSpPr>
        <p:spPr>
          <a:xfrm>
            <a:off x="1163782" y="6169709"/>
            <a:ext cx="5511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1) </a:t>
            </a:r>
            <a:r>
              <a:rPr lang="fi-FI" dirty="0" err="1"/>
              <a:t>UML:n</a:t>
            </a:r>
            <a:r>
              <a:rPr lang="fi-FI" dirty="0"/>
              <a:t> mukaisessa. UML: </a:t>
            </a:r>
            <a:r>
              <a:rPr lang="fi-FI" dirty="0" err="1"/>
              <a:t>Unified</a:t>
            </a:r>
            <a:r>
              <a:rPr lang="fi-FI" dirty="0"/>
              <a:t> </a:t>
            </a:r>
            <a:r>
              <a:rPr lang="fi-FI" dirty="0" err="1"/>
              <a:t>Markup</a:t>
            </a:r>
            <a:r>
              <a:rPr lang="fi-FI" dirty="0"/>
              <a:t> Language</a:t>
            </a:r>
            <a:br>
              <a:rPr lang="fi-FI" dirty="0"/>
            </a:br>
            <a:r>
              <a:rPr lang="fi-FI" dirty="0"/>
              <a:t>https://fi.wikipedia.org/wiki/UML-mallinnus</a:t>
            </a:r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47A84858-8106-B53A-C738-FCAE8549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343"/>
          <a:stretch>
            <a:fillRect/>
          </a:stretch>
        </p:blipFill>
        <p:spPr>
          <a:xfrm>
            <a:off x="9628909" y="1686380"/>
            <a:ext cx="1914525" cy="2034352"/>
          </a:xfrm>
          <a:prstGeom prst="rect">
            <a:avLst/>
          </a:prstGeom>
        </p:spPr>
      </p:pic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AF789B4D-A5D1-6178-CBFE-D901EF99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722"/>
          <a:stretch>
            <a:fillRect/>
          </a:stretch>
        </p:blipFill>
        <p:spPr>
          <a:xfrm>
            <a:off x="9533902" y="3855669"/>
            <a:ext cx="1914525" cy="2065412"/>
          </a:xfrm>
          <a:prstGeom prst="rect">
            <a:avLst/>
          </a:prstGeom>
        </p:spPr>
      </p:pic>
      <p:sp>
        <p:nvSpPr>
          <p:cNvPr id="11" name="Suorakulmio 10">
            <a:extLst>
              <a:ext uri="{FF2B5EF4-FFF2-40B4-BE49-F238E27FC236}">
                <a16:creationId xmlns:a16="http://schemas.microsoft.com/office/drawing/2014/main" id="{3ABC88C7-8C67-13AA-EC22-EFDA4FCD06DC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164FB65E-2D2A-5C9D-9A9D-1FEBEEDE852C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4356C41C-D72C-3A71-C38C-920A00CE8ADF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157E3528-F7FA-DEEE-5472-D898AE0EEE33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9161777C-C085-90CE-C4EB-7E45727973C7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2139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A2AA-CD82-E45C-A36A-3BB88834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DE998C0-F674-DC18-2359-B18961BC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Attribuuttien tyyppi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2ADFB0-2BD2-EF8E-12D0-EE422B86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1035351" cy="2053192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ER- kaaviossa esitellään attribuutit</a:t>
            </a:r>
          </a:p>
          <a:p>
            <a:pPr lvl="0"/>
            <a:r>
              <a:rPr lang="fi-FI" dirty="0"/>
              <a:t>Aina niitä ei laiteta näkyviin </a:t>
            </a:r>
          </a:p>
          <a:p>
            <a:pPr lvl="0"/>
            <a:r>
              <a:rPr lang="fi-FI" dirty="0"/>
              <a:t>Avainkenttään merkitään PK (</a:t>
            </a:r>
            <a:r>
              <a:rPr lang="fi-FI" dirty="0" err="1"/>
              <a:t>primary</a:t>
            </a:r>
            <a:r>
              <a:rPr lang="fi-FI" dirty="0"/>
              <a:t> </a:t>
            </a:r>
            <a:r>
              <a:rPr lang="fi-FI" dirty="0" err="1"/>
              <a:t>key</a:t>
            </a:r>
            <a:r>
              <a:rPr lang="fi-FI" dirty="0"/>
              <a:t>)</a:t>
            </a: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9984763B-82FC-F7B6-D698-1FC48EC15EC9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4AFB17CB-0ECA-16EC-4B35-263832B8C691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7AC49E8B-EAA3-026B-8E4D-21B581859DE4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5C6858B3-F52C-E31F-D4CF-F9609E974387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325D6C51-4AE1-9915-86E6-A5CA32F9DAA7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7" name="Kuva 6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9058DA76-BA8B-CBD1-A0C1-F4273732B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20" y="4026457"/>
            <a:ext cx="2044805" cy="2101958"/>
          </a:xfrm>
          <a:prstGeom prst="rect">
            <a:avLst/>
          </a:prstGeom>
        </p:spPr>
      </p:pic>
      <p:pic>
        <p:nvPicPr>
          <p:cNvPr id="25" name="Kuva 2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5735148C-AC9D-48BA-5BB7-A6A904249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520" y="4020106"/>
            <a:ext cx="2368672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3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66E6345-FE82-0AD5-4259-D2E0B4D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Miten entiteetit liittyvät toisiinsa? </a:t>
            </a:r>
            <a:br>
              <a:rPr lang="fi-FI" b="1" dirty="0"/>
            </a:br>
            <a:r>
              <a:rPr lang="fi-FI" b="1" dirty="0"/>
              <a:t>Suhteet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745F8C-962F-DACD-08E9-6F6BC78B9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48675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i-FI" dirty="0"/>
              <a:t>Nyt on käsitelty entiteetit ja attribuutit</a:t>
            </a:r>
          </a:p>
          <a:p>
            <a:pPr lvl="0"/>
            <a:r>
              <a:rPr lang="fi-FI" dirty="0"/>
              <a:t>Seuraavaksi mukaan tulevat </a:t>
            </a:r>
            <a:r>
              <a:rPr lang="fi-FI" b="1" dirty="0"/>
              <a:t>suhteet</a:t>
            </a:r>
            <a:r>
              <a:rPr lang="fi-FI" dirty="0"/>
              <a:t>. Niillä määritellään se, miten entiteetit ovat tekemisissä keskenään</a:t>
            </a:r>
          </a:p>
          <a:p>
            <a:pPr lvl="0"/>
            <a:r>
              <a:rPr lang="fi-FI" dirty="0"/>
              <a:t>Oikealla olevassa kuvassa kuvataan tilanne, jossa mahdollistetaan se, että </a:t>
            </a:r>
            <a:r>
              <a:rPr lang="fi-FI" b="1" dirty="0"/>
              <a:t>asiakas tekee tilauksen</a:t>
            </a:r>
          </a:p>
          <a:p>
            <a:pPr lvl="0"/>
            <a:r>
              <a:rPr lang="fi-FI" dirty="0"/>
              <a:t>Kaksi entiteettiä yhdistetään viivalla</a:t>
            </a:r>
          </a:p>
          <a:p>
            <a:pPr lvl="0"/>
            <a:r>
              <a:rPr lang="fi-FI" dirty="0"/>
              <a:t>Viivan päälle tulee toiminnan tai suhteen nimi</a:t>
            </a:r>
          </a:p>
          <a:p>
            <a:pPr lvl="0"/>
            <a:r>
              <a:rPr lang="fi-FI" dirty="0"/>
              <a:t>Viivan päissä käytetään erityisiä </a:t>
            </a:r>
            <a:r>
              <a:rPr lang="fi-FI" dirty="0" err="1"/>
              <a:t>tarkenteita</a:t>
            </a:r>
            <a:r>
              <a:rPr lang="fi-FI" dirty="0"/>
              <a:t>, </a:t>
            </a:r>
            <a:r>
              <a:rPr lang="fi-FI" b="1" dirty="0" err="1"/>
              <a:t>kardinaliteetteja</a:t>
            </a:r>
            <a:endParaRPr lang="fi-FI" b="1" dirty="0"/>
          </a:p>
          <a:p>
            <a:pPr lvl="0"/>
            <a:r>
              <a:rPr lang="fi-FI" dirty="0" err="1"/>
              <a:t>Kardinaliteetit</a:t>
            </a:r>
            <a:r>
              <a:rPr lang="fi-FI" dirty="0"/>
              <a:t> kuvaavat suhteen tyyppiä</a:t>
            </a:r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FE9B290A-E9FD-DF4A-A1FE-9F1E170E3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13" y="1690688"/>
            <a:ext cx="1533559" cy="4007996"/>
          </a:xfrm>
          <a:prstGeom prst="rect">
            <a:avLst/>
          </a:prstGeom>
        </p:spPr>
      </p:pic>
      <p:sp>
        <p:nvSpPr>
          <p:cNvPr id="9" name="Suorakulmio 8">
            <a:extLst>
              <a:ext uri="{FF2B5EF4-FFF2-40B4-BE49-F238E27FC236}">
                <a16:creationId xmlns:a16="http://schemas.microsoft.com/office/drawing/2014/main" id="{9338F002-8068-5D5F-F054-0F70762F97F9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68081446-6B1F-532E-5845-430DD0C93A60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6BB45735-FD37-AFFE-B41E-97401890492D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CCC0DB6F-C096-DE3B-D685-DE8E936D25BD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80EF9C5F-B7DE-7D60-C9D1-20275D54254A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66072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47EC-AAD5-E0BF-6D23-06E6D957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7D29573-DFFE-4911-093E-D1241E77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Miten entiteetit liittyvät toisiinsa? </a:t>
            </a:r>
            <a:br>
              <a:rPr lang="fi-FI" b="1" dirty="0"/>
            </a:br>
            <a:r>
              <a:rPr lang="fi-FI" b="1" dirty="0"/>
              <a:t>Suhteet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8316E29-A6B0-ADF7-05E9-41C0A814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48675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fi-FI" dirty="0"/>
              <a:t>Nyt on käsitelty entiteetit ja attribuutit</a:t>
            </a:r>
          </a:p>
          <a:p>
            <a:pPr lvl="0"/>
            <a:r>
              <a:rPr lang="fi-FI" dirty="0"/>
              <a:t>Seuraavaksi mukaan tulevat </a:t>
            </a:r>
            <a:r>
              <a:rPr lang="fi-FI" b="1" dirty="0"/>
              <a:t>suhteet</a:t>
            </a:r>
            <a:r>
              <a:rPr lang="fi-FI" dirty="0"/>
              <a:t>. Niillä määritellään se, miten entiteetit ovat tekemisissä keskenään</a:t>
            </a:r>
          </a:p>
          <a:p>
            <a:pPr lvl="0"/>
            <a:r>
              <a:rPr lang="fi-FI" dirty="0"/>
              <a:t>Oikealla olevassa kuvassa kuvataan tilanne, jossa mahdollistetaan se, että ”</a:t>
            </a:r>
            <a:r>
              <a:rPr lang="fi-FI" b="1" dirty="0"/>
              <a:t>asiakas tekee tilauksen”</a:t>
            </a:r>
          </a:p>
          <a:p>
            <a:pPr lvl="0"/>
            <a:r>
              <a:rPr lang="fi-FI" dirty="0"/>
              <a:t>Kaksi entiteettiä (asiakas ja tilaus) yhdistetään viivalla</a:t>
            </a:r>
          </a:p>
          <a:p>
            <a:pPr lvl="0"/>
            <a:r>
              <a:rPr lang="fi-FI" dirty="0"/>
              <a:t>Viivan päälle tulee toiminnan tai suhteen nimi (tässä: ”tekee”)</a:t>
            </a:r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B0BF1EEF-84EA-4B93-44A8-C9D39F3ED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13" y="1690688"/>
            <a:ext cx="1533559" cy="4007996"/>
          </a:xfrm>
          <a:prstGeom prst="rect">
            <a:avLst/>
          </a:prstGeom>
        </p:spPr>
      </p:pic>
      <p:sp>
        <p:nvSpPr>
          <p:cNvPr id="9" name="Suorakulmio 8">
            <a:extLst>
              <a:ext uri="{FF2B5EF4-FFF2-40B4-BE49-F238E27FC236}">
                <a16:creationId xmlns:a16="http://schemas.microsoft.com/office/drawing/2014/main" id="{CD7F3425-270D-0B6C-EDA8-D894753896D9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FA208DA4-BE49-34FF-3338-32CA25F1ECA3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F6A229A3-BC99-D2AE-F9E2-002CEAC9CF48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AF87AAC1-1D7E-92DD-B30D-88842B16FB18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ED4541F0-A2A3-8F0B-9117-5D5F82B0C476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2017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BDB50A7-39BD-60A3-78CE-499E0DF8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1/3: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16D2FBF-3CC6-F3D9-DA47-704A5FCF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 lnSpcReduction="10000"/>
          </a:bodyPr>
          <a:lstStyle/>
          <a:p>
            <a:r>
              <a:rPr lang="fi-FI" dirty="0"/>
              <a:t>Kahden entiteetin välille määriteltiin suhde</a:t>
            </a:r>
          </a:p>
          <a:p>
            <a:r>
              <a:rPr lang="fi-FI" dirty="0"/>
              <a:t>Suhteita on monenlaisia. Suhteen muoto ilmoitetaan </a:t>
            </a:r>
            <a:r>
              <a:rPr lang="fi-FI" b="1" dirty="0" err="1"/>
              <a:t>kardinaliteettina</a:t>
            </a:r>
            <a:r>
              <a:rPr lang="fi-FI" dirty="0"/>
              <a:t>.</a:t>
            </a:r>
          </a:p>
          <a:p>
            <a:r>
              <a:rPr lang="fi-FI" dirty="0"/>
              <a:t>Esimerkiksi ihmisellä on yleensä yksi paikka, missä hän on syntynyt. Eli ”(yhdellä) ihmisellä on yksi syntymäpaikka”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”yksi yhteen”- suhde. Tai ”yksi ja vain yksi suhteessa yhteen ja vain yhteen”</a:t>
            </a:r>
          </a:p>
          <a:p>
            <a:r>
              <a:rPr lang="fi-FI" dirty="0" err="1"/>
              <a:t>UML:ssä</a:t>
            </a:r>
            <a:r>
              <a:rPr lang="fi-FI" dirty="0"/>
              <a:t> suhdeviivan päälle tulee kaksi poikkiviivaa. Muistisääntö ”yksi yhteen”, ”pystyviivat päissä”, ”1”</a:t>
            </a:r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CB21D26F-8127-CAEF-8CF3-12A759D78668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ADBC7D9B-E989-7C82-C2F8-BCF9A20CFC03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3FA9930B-3145-7C09-1113-F48B2F3BE48D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1885C64A-FFAD-7AD0-91BF-15DA814B0E4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0D6BAE30-51C1-4083-0C3E-91CE3C0120F9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14" name="Kuva 13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27CAD5FF-B79B-6A2F-6986-7CE557D55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064" y="1387007"/>
            <a:ext cx="2278522" cy="40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3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405C-684C-0718-7D52-B23D63A6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099F2E5-FDA7-CAC1-09D2-F3935391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2/3: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930684C-32BB-C5DD-F310-398761E7F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 fontScale="77500" lnSpcReduction="20000"/>
          </a:bodyPr>
          <a:lstStyle/>
          <a:p>
            <a:r>
              <a:rPr lang="fi-FI" dirty="0"/>
              <a:t>”Yhdellä ihmisellä on yksi synnyinpaikka”. Tämä vaikuttaa selkeältä</a:t>
            </a:r>
          </a:p>
          <a:p>
            <a:r>
              <a:rPr lang="fi-FI" dirty="0"/>
              <a:t>Entä esimerkiksi kesämökki? Jokaisella ihmisellä ei välttämättä ole yhtäkään kesämökkiä, toisella niitä voi olla useita.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”yksi moneen”- suhde. Tai ”</a:t>
            </a:r>
            <a:r>
              <a:rPr lang="fi-FI" b="1" dirty="0"/>
              <a:t>yksi ja vain yksi</a:t>
            </a:r>
            <a:r>
              <a:rPr lang="fi-FI" dirty="0"/>
              <a:t> suhteessa </a:t>
            </a:r>
            <a:r>
              <a:rPr lang="fi-FI" b="1" dirty="0"/>
              <a:t>nollaan tai useampaan</a:t>
            </a:r>
            <a:r>
              <a:rPr lang="fi-FI" dirty="0"/>
              <a:t>”</a:t>
            </a:r>
          </a:p>
          <a:p>
            <a:r>
              <a:rPr lang="fi-FI" dirty="0"/>
              <a:t>Henkilön puolella </a:t>
            </a:r>
          </a:p>
          <a:p>
            <a:pPr lvl="1"/>
            <a:r>
              <a:rPr lang="fi-FI" dirty="0"/>
              <a:t>on viiva (”|”), sillä puolella on ”yksi ja vain yksi” entiteetti. Ei nollaa.</a:t>
            </a:r>
          </a:p>
          <a:p>
            <a:r>
              <a:rPr lang="fi-FI" dirty="0"/>
              <a:t>Kesämökin puolella </a:t>
            </a:r>
          </a:p>
          <a:p>
            <a:pPr lvl="1"/>
            <a:r>
              <a:rPr lang="fi-FI" dirty="0"/>
              <a:t>on pallo (”o”, nolla). Se tarkoittaa, että osallistuminen ei ole pakollista.</a:t>
            </a:r>
          </a:p>
          <a:p>
            <a:pPr lvl="1"/>
            <a:r>
              <a:rPr lang="fi-FI" dirty="0"/>
              <a:t>on myös ”variksenvarpaat”, ”</a:t>
            </a:r>
            <a:r>
              <a:rPr lang="fi-FI" dirty="0" err="1"/>
              <a:t>crow’s</a:t>
            </a:r>
            <a:r>
              <a:rPr lang="fi-FI" dirty="0"/>
              <a:t> </a:t>
            </a:r>
            <a:r>
              <a:rPr lang="fi-FI" dirty="0" err="1"/>
              <a:t>foot</a:t>
            </a:r>
            <a:r>
              <a:rPr lang="fi-FI" dirty="0"/>
              <a:t>”. Se kertoo, että sillä puolella voi olla monta</a:t>
            </a:r>
          </a:p>
          <a:p>
            <a:pPr lvl="1"/>
            <a:r>
              <a:rPr lang="fi-FI" dirty="0"/>
              <a:t>Eli ”nolla tai useampi”</a:t>
            </a:r>
          </a:p>
          <a:p>
            <a:r>
              <a:rPr lang="fi-FI" dirty="0"/>
              <a:t>Eli </a:t>
            </a:r>
            <a:r>
              <a:rPr lang="fi-FI" i="1" dirty="0"/>
              <a:t>”kaikilla kesämökeillä on oltava yksi (omistaja-) henkilö” </a:t>
            </a:r>
            <a:br>
              <a:rPr lang="fi-FI" dirty="0"/>
            </a:br>
            <a:r>
              <a:rPr lang="fi-FI" dirty="0"/>
              <a:t>mutta </a:t>
            </a:r>
            <a:r>
              <a:rPr lang="fi-FI" i="1" dirty="0"/>
              <a:t>”kaikilla henkilöillä ei ole pakko olla kesämökkiä”</a:t>
            </a:r>
            <a:r>
              <a:rPr lang="fi-FI" dirty="0"/>
              <a:t>.</a:t>
            </a:r>
          </a:p>
          <a:p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1D545C1C-3484-C121-D483-AE21138FD0FA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E60536C8-39CA-D3EC-142C-1D60B031AB01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E195363F-9715-3E4F-4BBA-49D0BE6169B3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A7214C5A-B548-A7A0-A9E8-E87F06A5832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D1773E15-8263-0299-F866-292F12E338D6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7" name="Kuva 6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2E0176BD-BE11-6EEA-C72A-D0A861C7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108" y="1467634"/>
            <a:ext cx="2273323" cy="5025241"/>
          </a:xfrm>
          <a:prstGeom prst="rect">
            <a:avLst/>
          </a:prstGeom>
        </p:spPr>
      </p:pic>
      <p:pic>
        <p:nvPicPr>
          <p:cNvPr id="13" name="Kuva 12">
            <a:extLst>
              <a:ext uri="{FF2B5EF4-FFF2-40B4-BE49-F238E27FC236}">
                <a16:creationId xmlns:a16="http://schemas.microsoft.com/office/drawing/2014/main" id="{B6942124-9E5E-51ED-C4ED-B062EE5F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225" y="3147973"/>
            <a:ext cx="41915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50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832C-08A0-1A3A-397E-53364ED8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0CAC303-8D45-FB61-BE6F-79EFA0B5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3/3: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C880174-9ACA-AAB9-9412-92ADFCD0D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dirty="0"/>
              <a:t>No, on kesämökkejä, joilla on monta omistajaa</a:t>
            </a:r>
          </a:p>
          <a:p>
            <a:r>
              <a:rPr lang="fi-FI" dirty="0"/>
              <a:t>”Henkilöllä on nolla tai useampi kesämökki, ja jokaisen kesämökin omistaa yksi tai useampi henkilö”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”monta moneen”- suhde</a:t>
            </a:r>
          </a:p>
          <a:p>
            <a:r>
              <a:rPr lang="fi-FI" dirty="0"/>
              <a:t>Molemmilla puolilla ”o” ja ”</a:t>
            </a:r>
            <a:r>
              <a:rPr lang="fi-FI" dirty="0" err="1"/>
              <a:t>crow’s</a:t>
            </a:r>
            <a:r>
              <a:rPr lang="fi-FI" dirty="0"/>
              <a:t> </a:t>
            </a:r>
            <a:r>
              <a:rPr lang="fi-FI" dirty="0" err="1"/>
              <a:t>foot</a:t>
            </a:r>
            <a:r>
              <a:rPr lang="fi-FI" dirty="0"/>
              <a:t>.</a:t>
            </a:r>
            <a:br>
              <a:rPr lang="fi-FI" dirty="0"/>
            </a:br>
            <a:r>
              <a:rPr lang="fi-FI" dirty="0"/>
              <a:t>Eli nolla tai useampia</a:t>
            </a:r>
          </a:p>
          <a:p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431C7CCC-8742-F31F-22C8-5AF2DF331F55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2380DEB4-5381-B515-3004-07A78A3C85C6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83AC0D56-A844-DC20-04ED-C151585D6047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75A2FBE5-3756-3C3B-2B74-90E737ADD3E3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9805459F-C3C5-166D-4972-82515E08C943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4" name="Kuva 3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47255980-40D6-0122-813E-5167A90FA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108" y="1467634"/>
            <a:ext cx="2273323" cy="5025241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9EF4776E-5023-36D6-691F-452726C56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775374" y="2977063"/>
            <a:ext cx="466790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B122-EF65-5BEB-EFBD-73675B97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9FA4CDF-3C03-110E-666E-58413A07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B974343-B5CB-36B6-639F-C80D2D30E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 fontScale="92500" lnSpcReduction="10000"/>
          </a:bodyPr>
          <a:lstStyle/>
          <a:p>
            <a:r>
              <a:rPr lang="fi-FI" sz="2400" dirty="0" err="1"/>
              <a:t>Kardinaliteetteja</a:t>
            </a:r>
            <a:r>
              <a:rPr lang="fi-FI" sz="2400" dirty="0"/>
              <a:t> on monenlaisia:</a:t>
            </a:r>
          </a:p>
          <a:p>
            <a:pPr lvl="1"/>
            <a:r>
              <a:rPr lang="fi-FI" sz="2000" b="1" dirty="0"/>
              <a:t>1 — 1</a:t>
            </a:r>
            <a:r>
              <a:rPr lang="fi-FI" sz="2000" dirty="0"/>
              <a:t>: Jokaisella kurssilla on täsmälleen yksi luokka, ja jokainen luokka liittyy täsmälleen yhteen kurssiin.</a:t>
            </a:r>
          </a:p>
          <a:p>
            <a:pPr lvl="1"/>
            <a:r>
              <a:rPr lang="fi-FI" sz="2000" b="1" dirty="0"/>
              <a:t>1 — N</a:t>
            </a:r>
            <a:r>
              <a:rPr lang="fi-FI" sz="2000" dirty="0"/>
              <a:t>: Yhdellä opettajalla voi olla useita kursseja, mutta jokaisella kurssilla on aina täsmälleen yksi opettaja.</a:t>
            </a:r>
          </a:p>
          <a:p>
            <a:pPr lvl="1"/>
            <a:r>
              <a:rPr lang="fi-FI" sz="2000" b="1" dirty="0"/>
              <a:t>0–N  —  1</a:t>
            </a:r>
            <a:r>
              <a:rPr lang="fi-FI" sz="2000" dirty="0"/>
              <a:t>: Opettajalla voi olla nolla tai useita kursseja. Jos kurssi on olemassa, sillä on aina täsmälleen yksi opettaja.</a:t>
            </a:r>
          </a:p>
          <a:p>
            <a:pPr lvl="1"/>
            <a:r>
              <a:rPr lang="fi-FI" sz="2000" b="1" dirty="0"/>
              <a:t>1 — 0–N</a:t>
            </a:r>
            <a:r>
              <a:rPr lang="fi-FI" sz="2000" dirty="0"/>
              <a:t>: Kurssi vaatii aina yhden opettajan. Opettajalla voi olla useita kursseja tai ei yhtään.</a:t>
            </a:r>
          </a:p>
          <a:p>
            <a:r>
              <a:rPr lang="fi-FI" sz="2400" dirty="0"/>
              <a:t>Nämä kaikki eivät ole yhtä hyviä </a:t>
            </a:r>
            <a:r>
              <a:rPr lang="fi-FI" sz="2400" dirty="0" err="1"/>
              <a:t>kardinaliteetteja</a:t>
            </a:r>
            <a:r>
              <a:rPr lang="fi-FI" sz="2400" dirty="0"/>
              <a:t>. Suunnittelussa pitää pohtia, mikä vastaa parhaimmin todellisuutta</a:t>
            </a:r>
          </a:p>
          <a:p>
            <a:r>
              <a:rPr lang="fi-FI" sz="2400" b="1" dirty="0"/>
              <a:t>0–N  —  1 </a:t>
            </a:r>
            <a:r>
              <a:rPr lang="fi-FI" sz="2400" dirty="0"/>
              <a:t>on ehkä lähimpänä todellisuutta (kuva). </a:t>
            </a:r>
          </a:p>
          <a:p>
            <a:pPr lvl="1"/>
            <a:r>
              <a:rPr lang="fi-FI" sz="2000" dirty="0"/>
              <a:t>Henkilön puolelta: Henkilö voi olla opettaja, vaikka ei opetakaan kursseja. Esim. aloitteleva opettaja. </a:t>
            </a:r>
          </a:p>
          <a:p>
            <a:pPr lvl="1"/>
            <a:r>
              <a:rPr lang="fi-FI" sz="2000" dirty="0"/>
              <a:t>Ei voi olla kurssia, jolla ei olisi opettajaa</a:t>
            </a:r>
          </a:p>
          <a:p>
            <a:endParaRPr lang="fi-FI" sz="2400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5069080F-7357-D361-6485-9D86CC20F0B0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7BBF26EF-4C28-018B-13A4-14A6E375E3DE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716BD563-CEB7-B22C-888C-D691E8BDAB51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F9764A21-D9BC-DE4C-B6BA-F391A4CC393B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FFBD226-B65E-9755-775A-06FA802B66AF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14" name="Kuva 13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BBDCF774-FAD3-3A33-35B0-5FF0C3848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405" y="2672292"/>
            <a:ext cx="126700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3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67FB26E-23F4-5178-6AC4-6E50644C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Tilauksen ja laskun välinen suhde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62B004B-08E4-8583-1A66-6183B4960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90529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Esim. verkkokaupassa jokaiseen tilaukseen liittyy lasku. Ei ole laskua, joka ei liittyisi johonkin (yhteen) tilaukseen.</a:t>
            </a:r>
          </a:p>
          <a:p>
            <a:pPr lvl="0"/>
            <a:r>
              <a:rPr lang="fi-FI" dirty="0"/>
              <a:t>Ei ole myöskään yhtään tilausta, johon ei liittyisi yhtä laskua.</a:t>
            </a:r>
          </a:p>
          <a:p>
            <a:pPr lvl="0"/>
            <a:r>
              <a:rPr lang="fi-FI" dirty="0"/>
              <a:t>Tämä on ”1-1 –</a:t>
            </a:r>
            <a:r>
              <a:rPr lang="fi-FI" dirty="0" err="1"/>
              <a:t>kardinaliteetti</a:t>
            </a:r>
            <a:r>
              <a:rPr lang="fi-FI" dirty="0"/>
              <a:t>”</a:t>
            </a:r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B170B98E-B82D-F639-63CA-B3816B145A71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5" name="Suorakulmio 14">
            <a:extLst>
              <a:ext uri="{FF2B5EF4-FFF2-40B4-BE49-F238E27FC236}">
                <a16:creationId xmlns:a16="http://schemas.microsoft.com/office/drawing/2014/main" id="{F2F01D5D-564B-AEA1-0695-16EF6C5A0959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6" name="Suorakulmio 15">
            <a:extLst>
              <a:ext uri="{FF2B5EF4-FFF2-40B4-BE49-F238E27FC236}">
                <a16:creationId xmlns:a16="http://schemas.microsoft.com/office/drawing/2014/main" id="{003D7F30-11FE-547C-DDAA-48874AB3BDD5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7" name="Suorakulmio 16">
            <a:extLst>
              <a:ext uri="{FF2B5EF4-FFF2-40B4-BE49-F238E27FC236}">
                <a16:creationId xmlns:a16="http://schemas.microsoft.com/office/drawing/2014/main" id="{F077820E-F174-8EE7-EBBA-57FB1A0AE515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8" name="Tekstiruutu 17">
            <a:extLst>
              <a:ext uri="{FF2B5EF4-FFF2-40B4-BE49-F238E27FC236}">
                <a16:creationId xmlns:a16="http://schemas.microsoft.com/office/drawing/2014/main" id="{0FCFB3AA-69ED-77D8-F739-4A7854C254F0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20" name="Kuva 19" descr="Kuva, joka sisältää kohteen teksti, Fontti, kuvakaappaus, diagrammi&#10;&#10;Tekoälyllä luotu sisältö voi olla virheellistä.">
            <a:extLst>
              <a:ext uri="{FF2B5EF4-FFF2-40B4-BE49-F238E27FC236}">
                <a16:creationId xmlns:a16="http://schemas.microsoft.com/office/drawing/2014/main" id="{A2704E26-9CBF-1957-3458-15DD68602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9347" y="2360247"/>
            <a:ext cx="128605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9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F014FB0-A806-2A71-7AB9-0715AF3E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Tuotteen ja tuotearvostelun </a:t>
            </a:r>
            <a:br>
              <a:rPr lang="fi-FI" b="1" dirty="0"/>
            </a:br>
            <a:r>
              <a:rPr lang="fi-FI" b="1" dirty="0"/>
              <a:t>välinen suhde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4570F71-F769-40A6-878D-5B4D23225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360000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Tuotteella ei välttämättä ole yhtään arvosteluja.</a:t>
            </a:r>
          </a:p>
          <a:p>
            <a:pPr lvl="0"/>
            <a:r>
              <a:rPr lang="fi-FI" dirty="0"/>
              <a:t>Ja toisaalta: jos järjestelmässä on arvostelu, liittyy se johonkin tuotteeseen.</a:t>
            </a:r>
          </a:p>
          <a:p>
            <a:pPr lvl="0"/>
            <a:r>
              <a:rPr lang="fi-FI" dirty="0"/>
              <a:t>Tämä on ”1 — 0..1 – </a:t>
            </a:r>
            <a:r>
              <a:rPr lang="fi-FI" dirty="0" err="1"/>
              <a:t>kardinaliteetti</a:t>
            </a:r>
            <a:r>
              <a:rPr lang="fi-FI" dirty="0"/>
              <a:t>”</a:t>
            </a:r>
          </a:p>
          <a:p>
            <a:pPr lvl="0"/>
            <a:endParaRPr lang="fi-FI" dirty="0"/>
          </a:p>
        </p:txBody>
      </p:sp>
      <p:pic>
        <p:nvPicPr>
          <p:cNvPr id="5" name="Kuva 4" descr="Kuva, joka sisältää kohteen teksti, Fontti, kuvakaappaus, diagrammi&#10;&#10;Tekoälyllä luotu sisältö voi olla virheellistä.">
            <a:extLst>
              <a:ext uri="{FF2B5EF4-FFF2-40B4-BE49-F238E27FC236}">
                <a16:creationId xmlns:a16="http://schemas.microsoft.com/office/drawing/2014/main" id="{439C1956-2646-F31E-138A-8D8A21E1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610" y="2340129"/>
            <a:ext cx="1457528" cy="3181794"/>
          </a:xfrm>
          <a:prstGeom prst="rect">
            <a:avLst/>
          </a:prstGeom>
        </p:spPr>
      </p:pic>
      <p:sp>
        <p:nvSpPr>
          <p:cNvPr id="6" name="Suorakulmio 5">
            <a:extLst>
              <a:ext uri="{FF2B5EF4-FFF2-40B4-BE49-F238E27FC236}">
                <a16:creationId xmlns:a16="http://schemas.microsoft.com/office/drawing/2014/main" id="{6C3FC1C6-F1D7-0429-2063-F319037B1746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" name="Suorakulmio 6">
            <a:extLst>
              <a:ext uri="{FF2B5EF4-FFF2-40B4-BE49-F238E27FC236}">
                <a16:creationId xmlns:a16="http://schemas.microsoft.com/office/drawing/2014/main" id="{002DE22D-0E89-3D66-9F65-78DFE2832625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CBD941DA-8316-858E-6DB2-9EF4DFCC4714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60CDF13A-7091-C639-362E-838322655C8E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76320A30-C63D-3B75-2D12-B00C03428EBD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2457475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B4CDC0C-2A14-940C-AAA9-8392D536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Tilauksen ja tilaisrivin välinen suhde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00BFFC95-EF90-9EFC-222A-5D306DEE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360000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Tilauksessa on aina vähintään yksi rivi</a:t>
            </a:r>
          </a:p>
          <a:p>
            <a:pPr lvl="0"/>
            <a:r>
              <a:rPr lang="fi-FI" dirty="0"/>
              <a:t>Jokainen rivi kuuluu yhteen tilaukseen</a:t>
            </a:r>
          </a:p>
          <a:p>
            <a:pPr lvl="0"/>
            <a:r>
              <a:rPr lang="fi-FI" dirty="0"/>
              <a:t>Tämä on ” 1 — 1..N –</a:t>
            </a:r>
            <a:r>
              <a:rPr lang="fi-FI" dirty="0" err="1"/>
              <a:t>kardinaliteetti</a:t>
            </a:r>
            <a:r>
              <a:rPr lang="fi-FI" dirty="0"/>
              <a:t>”</a:t>
            </a:r>
          </a:p>
        </p:txBody>
      </p:sp>
      <p:pic>
        <p:nvPicPr>
          <p:cNvPr id="10" name="Kuva 9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D8FE3665-A720-DA70-F7F5-46B89E4C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91" y="2229036"/>
            <a:ext cx="1419423" cy="3172268"/>
          </a:xfrm>
          <a:prstGeom prst="rect">
            <a:avLst/>
          </a:prstGeom>
        </p:spPr>
      </p:pic>
      <p:sp>
        <p:nvSpPr>
          <p:cNvPr id="11" name="Suorakulmio 10">
            <a:extLst>
              <a:ext uri="{FF2B5EF4-FFF2-40B4-BE49-F238E27FC236}">
                <a16:creationId xmlns:a16="http://schemas.microsoft.com/office/drawing/2014/main" id="{A35D568D-22CB-F36C-6A6F-8A18715FDEB7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E2CFCF1D-A87A-F823-CE05-697722E43065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D9E2DB32-68AE-EB48-936C-C095C3D493DC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DE9E66FE-1A9B-1DFB-E3E7-B41633990DE1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F28C9B5C-52FD-E8DC-E4A7-EF244455B946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35398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F554-CE4B-381C-D88C-FC40A8EA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7F48DBA-6FD7-E4E8-2427-F09EE185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Tuotteen ja tuotekategorian välinen </a:t>
            </a:r>
            <a:br>
              <a:rPr lang="fi-FI" b="1" dirty="0"/>
            </a:br>
            <a:r>
              <a:rPr lang="fi-FI" b="1" dirty="0"/>
              <a:t>suhde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F8897CED-626E-8B41-2B89-E0B5985C5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360000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Tuote voi kuulua moneen </a:t>
            </a:r>
            <a:r>
              <a:rPr lang="fi-FI" dirty="0" err="1"/>
              <a:t>gategoriaan</a:t>
            </a:r>
            <a:endParaRPr lang="fi-FI" dirty="0"/>
          </a:p>
          <a:p>
            <a:pPr lvl="0"/>
            <a:r>
              <a:rPr lang="fi-FI" dirty="0"/>
              <a:t>Kategoriassa voi olla monia tuotteita</a:t>
            </a:r>
          </a:p>
          <a:p>
            <a:pPr lvl="0"/>
            <a:r>
              <a:rPr lang="fi-FI" dirty="0"/>
              <a:t>Tämä on ” N— N –</a:t>
            </a:r>
            <a:r>
              <a:rPr lang="fi-FI" dirty="0" err="1"/>
              <a:t>kardinaliteetti</a:t>
            </a:r>
            <a:r>
              <a:rPr lang="fi-FI" dirty="0"/>
              <a:t>” Tai ”M-M”</a:t>
            </a:r>
          </a:p>
          <a:p>
            <a:pPr lvl="0"/>
            <a:r>
              <a:rPr lang="fi-FI" dirty="0"/>
              <a:t>Tämän relaation erikoisuuksiin palataan myöhemmin.</a:t>
            </a:r>
            <a:br>
              <a:rPr lang="fi-FI" dirty="0"/>
            </a:br>
            <a:r>
              <a:rPr lang="fi-FI" dirty="0"/>
              <a:t>Tässä vaiheessa voi jo paljastaa, </a:t>
            </a:r>
            <a:br>
              <a:rPr lang="fi-FI" dirty="0"/>
            </a:br>
            <a:r>
              <a:rPr lang="fi-FI" dirty="0"/>
              <a:t>että tällainen relaatio muuttuu </a:t>
            </a:r>
            <a:br>
              <a:rPr lang="fi-FI" dirty="0"/>
            </a:br>
            <a:r>
              <a:rPr lang="fi-FI" dirty="0"/>
              <a:t>tietokannassa kolmen taulun </a:t>
            </a:r>
            <a:br>
              <a:rPr lang="fi-FI" dirty="0"/>
            </a:br>
            <a:r>
              <a:rPr lang="fi-FI" dirty="0"/>
              <a:t>kokonaisuudeksi</a:t>
            </a:r>
          </a:p>
        </p:txBody>
      </p:sp>
      <p:pic>
        <p:nvPicPr>
          <p:cNvPr id="4" name="Kuva 3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FEAD362F-9815-B9B2-F32F-B51C930A0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86" y="2193178"/>
            <a:ext cx="1467055" cy="3181794"/>
          </a:xfrm>
          <a:prstGeom prst="rect">
            <a:avLst/>
          </a:prstGeom>
        </p:spPr>
      </p:pic>
      <p:pic>
        <p:nvPicPr>
          <p:cNvPr id="7" name="Kuva 6" descr="Kuva, joka sisältää kohteen teksti, diagramm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8AB70A35-EBB3-201B-B8C2-82959189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39" y="4216175"/>
            <a:ext cx="2761426" cy="2095725"/>
          </a:xfrm>
          <a:prstGeom prst="rect">
            <a:avLst/>
          </a:prstGeom>
        </p:spPr>
      </p:pic>
      <p:sp>
        <p:nvSpPr>
          <p:cNvPr id="8" name="Suorakulmio 7">
            <a:extLst>
              <a:ext uri="{FF2B5EF4-FFF2-40B4-BE49-F238E27FC236}">
                <a16:creationId xmlns:a16="http://schemas.microsoft.com/office/drawing/2014/main" id="{83617C90-B549-6623-5901-7057F36C8F83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713CC3CC-587A-CBB5-8514-DC9D2A3EFC13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1AA3BEC7-A6C4-7947-15F4-1987663657C5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6FF00899-0B09-A16E-1C74-47C9613EDB8C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EC3C1C60-681E-AA99-0CF5-A8EF611101DB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97232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EE99-86CA-5ACC-4071-4C809C39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A57C7D-C12D-120F-E7CD-7A32080A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Asiakkaan ja toimitusosoitteen </a:t>
            </a:r>
            <a:br>
              <a:rPr lang="fi-FI" b="1" dirty="0"/>
            </a:br>
            <a:r>
              <a:rPr lang="fi-FI" b="1" dirty="0"/>
              <a:t>suhde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128CF8F7-8442-1F93-148F-B44A0762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360000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Asiakkaalla on vain hänelle kuuluva osoite</a:t>
            </a:r>
          </a:p>
          <a:p>
            <a:pPr lvl="0"/>
            <a:r>
              <a:rPr lang="fi-FI" dirty="0"/>
              <a:t>Voi olla myös, että asiakkaalla ei ole toimitusosoitetta </a:t>
            </a:r>
            <a:br>
              <a:rPr lang="fi-FI" dirty="0"/>
            </a:br>
            <a:r>
              <a:rPr lang="fi-FI" dirty="0"/>
              <a:t>(esim. käy kaupassa ostamassa)</a:t>
            </a:r>
          </a:p>
          <a:p>
            <a:pPr lvl="0"/>
            <a:r>
              <a:rPr lang="fi-FI" dirty="0"/>
              <a:t>Hänellä voi olla myös useita toimitusosoitteita</a:t>
            </a:r>
          </a:p>
          <a:p>
            <a:pPr lvl="0"/>
            <a:r>
              <a:rPr lang="fi-FI" dirty="0"/>
              <a:t>Tämä on ” 1 — N”- relaatio</a:t>
            </a:r>
          </a:p>
        </p:txBody>
      </p:sp>
      <p:pic>
        <p:nvPicPr>
          <p:cNvPr id="4" name="Kuva 3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1172AC2A-B84F-7480-1DFE-4211C2FB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644" y="2156195"/>
            <a:ext cx="1991003" cy="3191320"/>
          </a:xfrm>
          <a:prstGeom prst="rect">
            <a:avLst/>
          </a:prstGeom>
        </p:spPr>
      </p:pic>
      <p:sp>
        <p:nvSpPr>
          <p:cNvPr id="6" name="Suorakulmio 5">
            <a:extLst>
              <a:ext uri="{FF2B5EF4-FFF2-40B4-BE49-F238E27FC236}">
                <a16:creationId xmlns:a16="http://schemas.microsoft.com/office/drawing/2014/main" id="{CCE0BF82-03F6-AC75-02D9-93467335D801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" name="Suorakulmio 6">
            <a:extLst>
              <a:ext uri="{FF2B5EF4-FFF2-40B4-BE49-F238E27FC236}">
                <a16:creationId xmlns:a16="http://schemas.microsoft.com/office/drawing/2014/main" id="{BABF79E0-BCD2-EAC7-E85A-0B4C675AF10B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435DB57D-E995-A1D1-5B03-72553BC4DE2C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C6C8C9EB-C570-1CED-8C61-6FFBAA4D2FE2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7CFC2A21-081F-9AAE-6AC2-405FF0245805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247174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C813DB6-0186-27F6-3F75-5965CF0B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Valmis ER-kaavio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A13409C-44C5-1C53-FAA9-5E4853A6F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84576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fi-FI" dirty="0"/>
              <a:t>Tässä on valmis ER-kaavio</a:t>
            </a:r>
          </a:p>
          <a:p>
            <a:pPr lvl="0"/>
            <a:r>
              <a:rPr lang="fi-FI" dirty="0"/>
              <a:t>Huomaat varmaan, että siinä on useita entiteettejä ja niiden välisiä suhteita</a:t>
            </a:r>
          </a:p>
          <a:p>
            <a:r>
              <a:rPr lang="fi-FI" b="1" dirty="0"/>
              <a:t>Tulkitaan:</a:t>
            </a:r>
          </a:p>
          <a:p>
            <a:pPr lvl="1"/>
            <a:r>
              <a:rPr lang="fi-FI" dirty="0"/>
              <a:t>Asiakkaalla voi olla </a:t>
            </a:r>
            <a:r>
              <a:rPr lang="fi-FI" b="1" dirty="0"/>
              <a:t>0..</a:t>
            </a:r>
            <a:r>
              <a:rPr lang="fi-FI" dirty="0"/>
              <a:t>* tilausta, mutta tilaus kuuluu aina </a:t>
            </a:r>
            <a:r>
              <a:rPr lang="fi-FI" b="1" dirty="0"/>
              <a:t>yhdelle</a:t>
            </a:r>
            <a:r>
              <a:rPr lang="fi-FI" dirty="0"/>
              <a:t> asiakkaalle</a:t>
            </a:r>
          </a:p>
          <a:p>
            <a:pPr lvl="1"/>
            <a:r>
              <a:rPr lang="fi-FI" dirty="0"/>
              <a:t>Tilauksessa on aina </a:t>
            </a:r>
            <a:r>
              <a:rPr lang="fi-FI" b="1" dirty="0"/>
              <a:t>vähintään yksi</a:t>
            </a:r>
            <a:r>
              <a:rPr lang="fi-FI" dirty="0"/>
              <a:t> tilausrivi</a:t>
            </a:r>
          </a:p>
          <a:p>
            <a:pPr lvl="1"/>
            <a:r>
              <a:rPr lang="fi-FI" dirty="0"/>
              <a:t>Tilausrivi viittaa </a:t>
            </a:r>
            <a:r>
              <a:rPr lang="fi-FI" b="1" dirty="0"/>
              <a:t>yhteen</a:t>
            </a:r>
            <a:r>
              <a:rPr lang="fi-FI" dirty="0"/>
              <a:t> tuotteeseen, mutta tuote voi esiintyä </a:t>
            </a:r>
            <a:r>
              <a:rPr lang="fi-FI" b="1" dirty="0"/>
              <a:t>monella rivillä</a:t>
            </a:r>
          </a:p>
          <a:p>
            <a:pPr lvl="1"/>
            <a:r>
              <a:rPr lang="fi-FI" dirty="0"/>
              <a:t>Pienessä kuvassa on sama tilanne kuvattuna teoreettisena mallina</a:t>
            </a:r>
          </a:p>
        </p:txBody>
      </p:sp>
      <p:pic>
        <p:nvPicPr>
          <p:cNvPr id="5" name="Kuva 4" descr="Kuva, joka sisältää kohteen teksti, diagrammi, viiva, kuvakaappaus&#10;&#10;Tekoälyllä luotu sisältö voi olla virheellistä.">
            <a:extLst>
              <a:ext uri="{FF2B5EF4-FFF2-40B4-BE49-F238E27FC236}">
                <a16:creationId xmlns:a16="http://schemas.microsoft.com/office/drawing/2014/main" id="{03EB5A96-F500-9E4A-EA83-52C0E543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988" y="904975"/>
            <a:ext cx="4274289" cy="5587900"/>
          </a:xfrm>
          <a:prstGeom prst="rect">
            <a:avLst/>
          </a:prstGeom>
        </p:spPr>
      </p:pic>
      <p:pic>
        <p:nvPicPr>
          <p:cNvPr id="14" name="Kuva 13" descr="Kuva, joka sisältää kohteen teksti, viiva, Fontti, diagrammi&#10;&#10;Tekoälyllä luotu sisältö voi olla virheellistä.">
            <a:extLst>
              <a:ext uri="{FF2B5EF4-FFF2-40B4-BE49-F238E27FC236}">
                <a16:creationId xmlns:a16="http://schemas.microsoft.com/office/drawing/2014/main" id="{1BFC2CA9-C739-65DA-AE78-35A0EF004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25" y="3523880"/>
            <a:ext cx="771893" cy="32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53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2024</Words>
  <Application>Microsoft Office PowerPoint</Application>
  <PresentationFormat>Laajakuva</PresentationFormat>
  <Paragraphs>778</Paragraphs>
  <Slides>19</Slides>
  <Notes>15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Office-teema</vt:lpstr>
      <vt:lpstr>ERD- kaaviot</vt:lpstr>
      <vt:lpstr>Johdanto: ER- kaaviot (ERD)</vt:lpstr>
      <vt:lpstr>Ensin kuitenkin… Miksi tietokantoja tarvitaan?</vt:lpstr>
      <vt:lpstr>Tietokantojen suunnittelu</vt:lpstr>
      <vt:lpstr>Entiteetit: ERD:n perusyksiköt</vt:lpstr>
      <vt:lpstr>Attribuutit: entiteettien ominaisuudet</vt:lpstr>
      <vt:lpstr>Attribuuttien tyyppi</vt:lpstr>
      <vt:lpstr>Miten entiteetit liittyvät toisiinsa?  Suhteet</vt:lpstr>
      <vt:lpstr>Miten entiteetit liittyvät toisiinsa?  Suhteet</vt:lpstr>
      <vt:lpstr>Kardinaliteetti 1/3:  suhteen määrällinen luonne</vt:lpstr>
      <vt:lpstr>Kardinaliteetti 2/3:  suhteen määrällinen luonne</vt:lpstr>
      <vt:lpstr>Kardinaliteetti 3/3:  suhteen määrällinen luonne</vt:lpstr>
      <vt:lpstr>Kardinaliteetti:  suhteen määrällinen luonne</vt:lpstr>
      <vt:lpstr>Tilauksen ja laskun välinen suhde</vt:lpstr>
      <vt:lpstr>Tuotteen ja tuotearvostelun  välinen suhde</vt:lpstr>
      <vt:lpstr>Tilauksen ja tilaisrivin välinen suhde</vt:lpstr>
      <vt:lpstr>Tuotteen ja tuotekategorian välinen  suhde</vt:lpstr>
      <vt:lpstr>Asiakkaan ja toimitusosoitteen  suhde</vt:lpstr>
      <vt:lpstr>Valmis ER-kaavio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Antti P.</dc:creator>
  <cp:lastModifiedBy>Antti Perttunen</cp:lastModifiedBy>
  <cp:revision>9</cp:revision>
  <cp:lastPrinted>2025-12-19T07:52:12Z</cp:lastPrinted>
  <dcterms:created xsi:type="dcterms:W3CDTF">2025-12-18T12:30:07Z</dcterms:created>
  <dcterms:modified xsi:type="dcterms:W3CDTF">2026-01-28T14:54:37Z</dcterms:modified>
</cp:coreProperties>
</file>