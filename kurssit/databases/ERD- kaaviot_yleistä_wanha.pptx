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9" r:id="rId2"/>
    <p:sldId id="256" r:id="rId3"/>
    <p:sldId id="257" r:id="rId4"/>
    <p:sldId id="275" r:id="rId5"/>
    <p:sldId id="283" r:id="rId6"/>
    <p:sldId id="259" r:id="rId7"/>
    <p:sldId id="260" r:id="rId8"/>
    <p:sldId id="276" r:id="rId9"/>
    <p:sldId id="261" r:id="rId10"/>
    <p:sldId id="262" r:id="rId11"/>
    <p:sldId id="278" r:id="rId12"/>
    <p:sldId id="279" r:id="rId13"/>
    <p:sldId id="280" r:id="rId14"/>
    <p:sldId id="281" r:id="rId15"/>
    <p:sldId id="263" r:id="rId16"/>
    <p:sldId id="264" r:id="rId17"/>
    <p:sldId id="271" r:id="rId18"/>
    <p:sldId id="273" r:id="rId19"/>
    <p:sldId id="272" r:id="rId20"/>
    <p:sldId id="274" r:id="rId21"/>
    <p:sldId id="270" r:id="rId22"/>
    <p:sldId id="265" r:id="rId23"/>
    <p:sldId id="266" r:id="rId24"/>
    <p:sldId id="267" r:id="rId25"/>
    <p:sldId id="268" r:id="rId26"/>
    <p:sldId id="258" r:id="rId27"/>
    <p:sldId id="282" r:id="rId28"/>
  </p:sldIdLst>
  <p:sldSz cx="12192000" cy="6858000"/>
  <p:notesSz cx="7104063" cy="10234613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eematyyli 1 - Korostu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939" autoAdjust="0"/>
  </p:normalViewPr>
  <p:slideViewPr>
    <p:cSldViewPr snapToGrid="0">
      <p:cViewPr varScale="1">
        <p:scale>
          <a:sx n="116" d="100"/>
          <a:sy n="116" d="100"/>
        </p:scale>
        <p:origin x="4266" y="3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99495C08-7242-4233-86AC-1399CA1C6EBE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01397C08-D781-4331-863A-FA527468A3E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5559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Tänään opimme asioita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 -kaavioista eli </a:t>
            </a:r>
            <a:r>
              <a:rPr lang="fi-FI" b="1" dirty="0"/>
              <a:t>ERD-kaavioista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Aluksi tutustumme </a:t>
            </a:r>
            <a:r>
              <a:rPr lang="fi-FI" dirty="0" err="1"/>
              <a:t>ERD:n</a:t>
            </a:r>
            <a:r>
              <a:rPr lang="fi-FI" dirty="0"/>
              <a:t> yleiskuvaan</a:t>
            </a:r>
          </a:p>
          <a:p>
            <a:pPr lvl="0"/>
            <a:r>
              <a:rPr lang="fi-FI" dirty="0"/>
              <a:t>Sen jälkeen siirrymme syvemmälle ja laadimme ERD- kaavion yhdessä</a:t>
            </a:r>
          </a:p>
          <a:p>
            <a:pPr lvl="0"/>
            <a:r>
              <a:rPr lang="fi-FI" dirty="0"/>
              <a:t>Tutustumme siihen, mitä tarkoittavat entiteetit, attribuutit, </a:t>
            </a:r>
            <a:r>
              <a:rPr lang="fi-FI" dirty="0" err="1"/>
              <a:t>relatiot</a:t>
            </a:r>
            <a:r>
              <a:rPr lang="fi-FI" dirty="0"/>
              <a:t> ja </a:t>
            </a:r>
            <a:r>
              <a:rPr lang="fi-FI" dirty="0" err="1"/>
              <a:t>kardinaliteetit</a:t>
            </a:r>
            <a:endParaRPr lang="fi-FI" dirty="0"/>
          </a:p>
          <a:p>
            <a:pPr lvl="0"/>
            <a:r>
              <a:rPr lang="fi-FI" dirty="0"/>
              <a:t>Tavoitteena on, että tämän kaiken jälkeen osaat rakentaa kokonaisen ERD- kaavion alusta loppuun aivan itse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12918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Oletko koskaan miettinyt, miksi saat virheilmoituksen, jonka mukaan haluamasi käyttäjänimi sosiaalisessa mediassa on jo varattu? Tai miten verkkokauppa, kuten Amazon, pystyy seuraamaan niin monia tilauksia, asiakkaita ja tuotteita?</a:t>
            </a:r>
          </a:p>
          <a:p>
            <a:pPr lvl="0"/>
            <a:r>
              <a:rPr lang="fi-FI" dirty="0"/>
              <a:t>Vastaus näihin kysymyksiin löytyy </a:t>
            </a:r>
            <a:r>
              <a:rPr lang="fi-FI" b="1" dirty="0"/>
              <a:t>tietokannasta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Tietokanta on kokoelma tietoa, joka on järjestetty siten, että se on helppo tallentaa, hallita, päivittää ja hakea. 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27804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9B97-C188-1B71-135C-91B9AAF7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8BE24172-1875-F84C-C814-410074477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4E0F4CE-1B04-0EAA-2F79-460A2B56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Kuten voit kuvitella, tietokannassa on paljon liikkuvia osia, ja niiden keskinäisten suhteiden ymmärtäminen voi olla hankalaa.</a:t>
            </a:r>
          </a:p>
          <a:p>
            <a:pPr lvl="0"/>
            <a:endParaRPr lang="fi-FI" dirty="0"/>
          </a:p>
          <a:p>
            <a:pPr lvl="0"/>
            <a:endParaRPr lang="fi-FI" dirty="0"/>
          </a:p>
          <a:p>
            <a:pPr lvl="0"/>
            <a:r>
              <a:rPr lang="fi-FI" b="1" dirty="0"/>
              <a:t>ERD-kaaviot</a:t>
            </a:r>
            <a:r>
              <a:rPr lang="fi-FI" dirty="0"/>
              <a:t> tarjoavat ohjelmistokehittäjille visuaalisen tavan ymmärtää, miten tietokantaan talletettavat tiedot liittyvät toisiinsa ja toimivat yhdessä.</a:t>
            </a:r>
          </a:p>
          <a:p>
            <a:pPr lvl="0"/>
            <a:r>
              <a:rPr lang="fi-FI" dirty="0"/>
              <a:t>Kun olet tehnyt tietokantasi </a:t>
            </a:r>
            <a:r>
              <a:rPr lang="fi-FI" dirty="0" err="1"/>
              <a:t>ERD:n</a:t>
            </a:r>
            <a:r>
              <a:rPr lang="fi-FI" dirty="0"/>
              <a:t> hyvin, on varsinaisen tietokannan tekeminen helppoa.</a:t>
            </a:r>
          </a:p>
          <a:p>
            <a:pPr lvl="0"/>
            <a:r>
              <a:rPr lang="fi-FI" dirty="0"/>
              <a:t>ERD helpottaa myös sen koodin tekemistä, jolla tietokantaa käytetään</a:t>
            </a:r>
          </a:p>
          <a:p>
            <a:pPr lvl="0"/>
            <a:r>
              <a:rPr lang="fi-FI" dirty="0"/>
              <a:t>Ja ERD auttaa vikojen etsinnässä</a:t>
            </a:r>
          </a:p>
          <a:p>
            <a:pPr lvl="0"/>
            <a:endParaRPr lang="fi-FI" dirty="0"/>
          </a:p>
          <a:p>
            <a:pPr lvl="0"/>
            <a:r>
              <a:rPr lang="fi-FI" b="1" dirty="0"/>
              <a:t>ERD-kaaviot</a:t>
            </a:r>
            <a:r>
              <a:rPr lang="fi-FI" dirty="0"/>
              <a:t> tarjoavat ohjelmistokehittäjille visuaalisen tavan ymmärtää, miten nämä tiedot liittyvät toisiinsa ja toimivat yhdessä.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3EE5AE0-D074-BD99-7DC3-61B1D23FE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2148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ERD-kaavion rakentaminen alkaa sen osatekijöiden ymmärtämisestä. Ensimmäinen niistä on </a:t>
            </a:r>
            <a:r>
              <a:rPr lang="fi-FI" b="1" dirty="0"/>
              <a:t>entiteetti</a:t>
            </a:r>
            <a:r>
              <a:rPr lang="fi-FI" dirty="0"/>
              <a:t>.</a:t>
            </a:r>
          </a:p>
          <a:p>
            <a:pPr lvl="0"/>
            <a:r>
              <a:rPr lang="fi-FI" dirty="0"/>
              <a:t>Entiteetti on objekti – kuten henkilö, paikka tai asia – jota seurataan tietokannassa. Jos ostaisimme Amazonista jotakin, vaikkapa huippusiistit </a:t>
            </a:r>
            <a:r>
              <a:rPr lang="fi-FI" dirty="0" err="1"/>
              <a:t>Crocsit</a:t>
            </a:r>
            <a:r>
              <a:rPr lang="fi-FI" dirty="0"/>
              <a:t> (nämä eivät ole ne </a:t>
            </a:r>
            <a:r>
              <a:rPr lang="fi-FI" dirty="0" err="1"/>
              <a:t>droidit</a:t>
            </a:r>
            <a:r>
              <a:rPr lang="fi-FI" dirty="0"/>
              <a:t>, joita etsimme), entiteettejä voisivat olla:</a:t>
            </a:r>
          </a:p>
          <a:p>
            <a:pPr lvl="0"/>
            <a:r>
              <a:rPr lang="fi-FI" dirty="0"/>
              <a:t>asiakas</a:t>
            </a:r>
          </a:p>
          <a:p>
            <a:pPr lvl="0"/>
            <a:r>
              <a:rPr lang="fi-FI" dirty="0"/>
              <a:t>tilaus</a:t>
            </a:r>
          </a:p>
          <a:p>
            <a:pPr lvl="0"/>
            <a:r>
              <a:rPr lang="fi-FI" dirty="0"/>
              <a:t>tuote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7990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Jokaisella entiteetillä on </a:t>
            </a:r>
            <a:r>
              <a:rPr lang="fi-FI" b="1" dirty="0"/>
              <a:t>attribuutteja</a:t>
            </a:r>
            <a:r>
              <a:rPr lang="fi-FI" dirty="0"/>
              <a:t>, eli ominaisuuksia tai piirteitä. Asiakas-entiteetin attribuutteja voisivat olla esimerkiksi:</a:t>
            </a:r>
          </a:p>
          <a:p>
            <a:pPr lvl="0"/>
            <a:r>
              <a:rPr lang="fi-FI" dirty="0"/>
              <a:t>asiakas-ID</a:t>
            </a:r>
          </a:p>
          <a:p>
            <a:pPr lvl="0"/>
            <a:r>
              <a:rPr lang="fi-FI" dirty="0"/>
              <a:t>etunimi</a:t>
            </a:r>
          </a:p>
          <a:p>
            <a:pPr lvl="0"/>
            <a:r>
              <a:rPr lang="fi-FI" dirty="0"/>
              <a:t>sukunimi</a:t>
            </a:r>
          </a:p>
          <a:p>
            <a:pPr lvl="0"/>
            <a:r>
              <a:rPr lang="fi-FI" dirty="0"/>
              <a:t>katuosoite</a:t>
            </a:r>
          </a:p>
          <a:p>
            <a:pPr lvl="0"/>
            <a:r>
              <a:rPr lang="fi-FI" dirty="0"/>
              <a:t>kaupunki</a:t>
            </a:r>
          </a:p>
          <a:p>
            <a:pPr lvl="0"/>
            <a:r>
              <a:rPr lang="fi-FI" dirty="0"/>
              <a:t>postinumero</a:t>
            </a:r>
          </a:p>
          <a:p>
            <a:pPr lvl="0"/>
            <a:r>
              <a:rPr lang="fi-FI" dirty="0"/>
              <a:t>puhelinnumero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3198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07A6-5355-976A-6002-A2D26296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A5E5BD45-E688-717E-902B-0B08168E5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A9674C04-FC8D-2A50-1011-BC25FB91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AA27F8A-A22B-CA8C-8B7F-C204FA909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5122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Kun entiteetit ja attribuutit ovat paikallaan, voimme tarkastella </a:t>
            </a:r>
            <a:r>
              <a:rPr lang="fi-FI" b="1" dirty="0"/>
              <a:t>suhteita</a:t>
            </a:r>
            <a:r>
              <a:rPr lang="fi-FI" dirty="0"/>
              <a:t>. Suhteet kuvaavat, miten entiteetit ovat vuorovaikutuksessa keskenään.</a:t>
            </a:r>
          </a:p>
          <a:p>
            <a:pPr lvl="0"/>
            <a:r>
              <a:rPr lang="fi-FI" dirty="0"/>
              <a:t>Kun piirrän viivan kahden entiteetin väliin, osoitan, että niiden välillä on jonkinlainen yhteys tai toiminnallinen suhde.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840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2478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AB12-678F-E3DE-A608-E32E8E23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A52ED977-C4D6-5C72-9582-80D9ECC20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7BDAC600-3FC0-84BD-05FA-B97592CEF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2B8C742-727A-1BFA-B192-8212C89F4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12325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3AF9-EC0D-C8CD-A57E-6255343E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117C315F-BF93-29F8-3531-5AEF9CE6D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59EE4E5-EFB7-B22E-7874-7BA586574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2A09755-F58B-AF47-6415-E616F3997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1311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281A-E683-D7B7-C340-99DF6094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40F42C6C-83B2-A750-833C-B8E3F7337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FE97EE5-E0B0-9B48-1AE4-61AFBD814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A76C7873-3762-8D69-8132-0710F6342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45224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2A0-113F-44A4-67CD-2A3E23E0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B625DBF-99E2-9AD1-4219-1A825763A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AAEE6268-F387-DD15-B768-D685FB847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Suhdeviivoihin liittyy usein erikoismerkintöjä, joita kutsutaan </a:t>
            </a:r>
            <a:r>
              <a:rPr lang="fi-FI" b="1" dirty="0" err="1"/>
              <a:t>kardinaliteeteiksi</a:t>
            </a:r>
            <a:r>
              <a:rPr lang="fi-FI" dirty="0"/>
              <a:t>. </a:t>
            </a:r>
            <a:r>
              <a:rPr lang="fi-FI" dirty="0" err="1"/>
              <a:t>Kardinaliteetti</a:t>
            </a:r>
            <a:r>
              <a:rPr lang="fi-FI" dirty="0"/>
              <a:t> määrittää suhteen määrällisessä mielessä – erityisesti minimi- ja maksimiarvot.</a:t>
            </a:r>
          </a:p>
          <a:p>
            <a:pPr lvl="0"/>
            <a:r>
              <a:rPr lang="fi-FI" dirty="0"/>
              <a:t>ERD-kaavioissa esiintyviä </a:t>
            </a:r>
            <a:r>
              <a:rPr lang="fi-FI" dirty="0" err="1"/>
              <a:t>kardinaliteetteja</a:t>
            </a:r>
            <a:r>
              <a:rPr lang="fi-FI" dirty="0"/>
              <a:t> ovat muun muassa:</a:t>
            </a:r>
          </a:p>
          <a:p>
            <a:pPr lvl="0"/>
            <a:r>
              <a:rPr lang="fi-FI" dirty="0"/>
              <a:t>yksi</a:t>
            </a:r>
          </a:p>
          <a:p>
            <a:pPr lvl="0"/>
            <a:r>
              <a:rPr lang="fi-FI" dirty="0"/>
              <a:t>monta</a:t>
            </a:r>
          </a:p>
          <a:p>
            <a:pPr lvl="0"/>
            <a:r>
              <a:rPr lang="fi-FI" dirty="0"/>
              <a:t>yksi ja vain yksi</a:t>
            </a:r>
          </a:p>
          <a:p>
            <a:pPr lvl="0"/>
            <a:r>
              <a:rPr lang="fi-FI" dirty="0"/>
              <a:t>nolla tai yksi</a:t>
            </a:r>
          </a:p>
          <a:p>
            <a:pPr lvl="0"/>
            <a:r>
              <a:rPr lang="fi-FI" dirty="0"/>
              <a:t>yksi tai monta</a:t>
            </a:r>
          </a:p>
          <a:p>
            <a:pPr lvl="0"/>
            <a:r>
              <a:rPr lang="fi-FI" dirty="0"/>
              <a:t>nolla tai monta</a:t>
            </a:r>
          </a:p>
          <a:p>
            <a:pPr lvl="0"/>
            <a:r>
              <a:rPr lang="fi-FI" dirty="0"/>
              <a:t>Jos tämä ei vielä tunnu selkeältä, ei hätää – käymme seuraavaksi esimerkkien avulla asiat läpi.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BF654FA8-BD51-55A0-2FA0-84667D7CB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7389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Tarkastellaan ensin asiakkaan ja tilauksen välistä suhdetta. Paras tapa tehdä tämä on kysyä kaksi kysymystä:</a:t>
            </a:r>
          </a:p>
          <a:p>
            <a:pPr lvl="0"/>
            <a:r>
              <a:rPr lang="fi-FI" dirty="0"/>
              <a:t>Mikä on </a:t>
            </a:r>
            <a:r>
              <a:rPr lang="fi-FI" b="1" dirty="0"/>
              <a:t>vähimmäismäärä tilauksia</a:t>
            </a:r>
            <a:r>
              <a:rPr lang="fi-FI" dirty="0"/>
              <a:t>, joita asiakkaalla voi olla?</a:t>
            </a:r>
          </a:p>
          <a:p>
            <a:pPr lvl="0"/>
            <a:r>
              <a:rPr lang="fi-FI" dirty="0"/>
              <a:t>Mikä on </a:t>
            </a:r>
            <a:r>
              <a:rPr lang="fi-FI" b="1" dirty="0"/>
              <a:t>enimmäismäärä tilauksia</a:t>
            </a:r>
            <a:r>
              <a:rPr lang="fi-FI" dirty="0"/>
              <a:t>, joita asiakkaalla voi olla?</a:t>
            </a:r>
          </a:p>
          <a:p>
            <a:pPr lvl="0"/>
            <a:r>
              <a:rPr lang="fi-FI" dirty="0"/>
              <a:t>Asiakas voi olla olemassa ilman yhtäkään tilausta – siis </a:t>
            </a:r>
            <a:r>
              <a:rPr lang="fi-FI" b="1" dirty="0"/>
              <a:t>0 tilausta</a:t>
            </a:r>
            <a:r>
              <a:rPr lang="fi-FI" dirty="0"/>
              <a:t>. Toisaalta asiakkaalla voi olla </a:t>
            </a:r>
            <a:r>
              <a:rPr lang="fi-FI" b="1" dirty="0"/>
              <a:t>rajaton määrä tilauksia</a:t>
            </a:r>
            <a:r>
              <a:rPr lang="fi-FI" dirty="0"/>
              <a:t>, etenkin jos puhutaan </a:t>
            </a:r>
            <a:r>
              <a:rPr lang="fi-FI" dirty="0" err="1"/>
              <a:t>Crocseista</a:t>
            </a:r>
            <a:r>
              <a:rPr lang="fi-FI" dirty="0"/>
              <a:t> – yhtä paria ei koskaan riitä.</a:t>
            </a:r>
          </a:p>
          <a:p>
            <a:pPr lvl="0"/>
            <a:r>
              <a:rPr lang="fi-FI" dirty="0"/>
              <a:t>Tämä kuvataan merkinnällä </a:t>
            </a:r>
            <a:r>
              <a:rPr lang="fi-FI" b="1" dirty="0"/>
              <a:t>0 tai monta</a:t>
            </a:r>
            <a:r>
              <a:rPr lang="fi-FI" dirty="0"/>
              <a:t> (ns. harakanvarvas-notaatio).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83882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Käännetään nyt kysymys toisin päin:</a:t>
            </a:r>
          </a:p>
          <a:p>
            <a:pPr lvl="0"/>
            <a:r>
              <a:rPr lang="fi-FI" dirty="0"/>
              <a:t>Kuinka monta asiakasta yhdellä tilauksella voi olla?</a:t>
            </a:r>
          </a:p>
          <a:p>
            <a:pPr lvl="0"/>
            <a:r>
              <a:rPr lang="fi-FI" dirty="0"/>
              <a:t>Yhdellä tietyllä tilauksella voi olla </a:t>
            </a:r>
            <a:r>
              <a:rPr lang="fi-FI" b="1" dirty="0"/>
              <a:t>yksi ja vain yksi asiakas</a:t>
            </a:r>
            <a:r>
              <a:rPr lang="fi-FI" dirty="0"/>
              <a:t>. Kuvittele, miten sekavaa olisi, jos yhdellä tilauksella olisi monta eri asiakasta.</a:t>
            </a:r>
          </a:p>
          <a:p>
            <a:pPr lvl="0"/>
            <a:r>
              <a:rPr lang="fi-FI" dirty="0"/>
              <a:t>Tämä suhde merkitään </a:t>
            </a:r>
            <a:r>
              <a:rPr lang="fi-FI" b="1" dirty="0"/>
              <a:t>yksi ja vain yksi</a:t>
            </a:r>
            <a:r>
              <a:rPr lang="fi-FI" dirty="0"/>
              <a:t> -notaatioilla.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8341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Seuraavaksi esimerkki, jossa yksi entiteetti on suorassa suhteessa toiseen entiteettiin</a:t>
            </a:r>
          </a:p>
          <a:p>
            <a:r>
              <a:rPr lang="fi-FI" dirty="0"/>
              <a:t>”Yhdellä henkilöllä on vain yksi passi. Tietty passi kuuluu yhdelle henkilölle”.</a:t>
            </a:r>
          </a:p>
          <a:p>
            <a:r>
              <a:rPr lang="fi-FI" dirty="0"/>
              <a:t>Toisaalta, on paljon ihmisiä, joilla ei ole passia ollenkaan. Siksi ehkä parempi </a:t>
            </a:r>
            <a:r>
              <a:rPr lang="fi-FI" dirty="0" err="1"/>
              <a:t>kardinaliteetti</a:t>
            </a:r>
            <a:r>
              <a:rPr lang="fi-FI" dirty="0"/>
              <a:t> on kuvan 2 mukainen. </a:t>
            </a:r>
          </a:p>
          <a:p>
            <a:r>
              <a:rPr lang="fi-FI" dirty="0" err="1"/>
              <a:t>Kardinaliteetit</a:t>
            </a:r>
            <a:r>
              <a:rPr lang="fi-FI" dirty="0"/>
              <a:t> eivät ole aina helppo päättää. Pohdinta </a:t>
            </a:r>
            <a:r>
              <a:rPr lang="fi-FI" dirty="0" err="1"/>
              <a:t>ERD:n</a:t>
            </a:r>
            <a:r>
              <a:rPr lang="fi-FI" dirty="0"/>
              <a:t> kanssa on kuitenkin helpompaa kuin tietokannassa.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19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8493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Seuraavaksi tarkastelemme tilausten ja tuotteiden välistä suhdetta.</a:t>
            </a:r>
          </a:p>
          <a:p>
            <a:pPr lvl="0"/>
            <a:r>
              <a:rPr lang="fi-FI" dirty="0"/>
              <a:t>Kuinka monta tuotetta tilauksessa voi olla?</a:t>
            </a:r>
          </a:p>
          <a:p>
            <a:pPr lvl="0"/>
            <a:r>
              <a:rPr lang="fi-FI" dirty="0"/>
              <a:t>Tilauksen olemassaolo edellyttää vähintään </a:t>
            </a:r>
            <a:r>
              <a:rPr lang="fi-FI" b="1" dirty="0"/>
              <a:t>yhtä tuotetta</a:t>
            </a:r>
            <a:r>
              <a:rPr lang="fi-FI" dirty="0"/>
              <a:t>, mutta siihen voi sisältyä </a:t>
            </a:r>
            <a:r>
              <a:rPr lang="fi-FI" b="1" dirty="0"/>
              <a:t>useita tuotteita</a:t>
            </a:r>
            <a:r>
              <a:rPr lang="fi-FI" dirty="0"/>
              <a:t>.</a:t>
            </a:r>
          </a:p>
          <a:p>
            <a:pPr lvl="0"/>
            <a:r>
              <a:rPr lang="fi-FI" dirty="0"/>
              <a:t>Entä kuinka monessa tilauksessa yksi tuote voi esiintyä?</a:t>
            </a:r>
          </a:p>
          <a:p>
            <a:pPr lvl="0"/>
            <a:r>
              <a:rPr lang="fi-FI" dirty="0"/>
              <a:t>Tuote voi olla osana </a:t>
            </a:r>
            <a:r>
              <a:rPr lang="fi-FI" b="1" dirty="0"/>
              <a:t>nollaa tilausta</a:t>
            </a:r>
            <a:r>
              <a:rPr lang="fi-FI" dirty="0"/>
              <a:t> tai </a:t>
            </a:r>
            <a:r>
              <a:rPr lang="fi-FI" b="1" dirty="0"/>
              <a:t>monia tilauksia</a:t>
            </a:r>
            <a:r>
              <a:rPr lang="fi-FI" dirty="0"/>
              <a:t>, joten tähän käytetään </a:t>
            </a:r>
            <a:r>
              <a:rPr lang="fi-FI" b="1" dirty="0"/>
              <a:t>0 tai monta</a:t>
            </a:r>
            <a:r>
              <a:rPr lang="fi-FI" dirty="0"/>
              <a:t> -merkintää.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01520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7684">
              <a:defRPr/>
            </a:pPr>
            <a:r>
              <a:rPr lang="fi-FI" dirty="0"/>
              <a:t>Ja näin olemme rakentaneet kokonaisen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 -kaavion. Vaikka esimerkki on yksinkertainen, sinulla on nyt perustaidot monimutkaisempien ERD-kaavioiden laatimiseen.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33851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7684">
              <a:defRPr/>
            </a:pPr>
            <a:r>
              <a:rPr lang="fi-FI" dirty="0"/>
              <a:t>Lisäksi </a:t>
            </a:r>
            <a:r>
              <a:rPr lang="fi-FI" dirty="0" err="1"/>
              <a:t>Lucidchartin</a:t>
            </a:r>
            <a:r>
              <a:rPr lang="fi-FI" dirty="0"/>
              <a:t> avulla voit viedä kaavion suoraan tietokantaan. Vientitoiminto voi automaattisesti luoda koodia, joka voidaan tuoda käyttämääsi tietokannan hallintajärjestelmään – tämä tekee työskentelystä entistä tehokkaampaa.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85004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Kiitos katsomisesta! Muista katsoa seuraava video, jossa syvennymme ERD-kaavioiden monimutkaisempiin aiheisiin, kuten:</a:t>
            </a:r>
          </a:p>
          <a:p>
            <a:pPr lvl="0"/>
            <a:r>
              <a:rPr lang="fi-FI" dirty="0"/>
              <a:t>pääavaimiin (</a:t>
            </a:r>
            <a:r>
              <a:rPr lang="fi-FI" dirty="0" err="1"/>
              <a:t>primary</a:t>
            </a:r>
            <a:r>
              <a:rPr lang="fi-FI" dirty="0"/>
              <a:t> </a:t>
            </a:r>
            <a:r>
              <a:rPr lang="fi-FI" dirty="0" err="1"/>
              <a:t>keys</a:t>
            </a:r>
            <a:r>
              <a:rPr lang="fi-FI" dirty="0"/>
              <a:t>)</a:t>
            </a:r>
          </a:p>
          <a:p>
            <a:pPr lvl="0"/>
            <a:r>
              <a:rPr lang="fi-FI" dirty="0"/>
              <a:t>viiteavaimiin (</a:t>
            </a:r>
            <a:r>
              <a:rPr lang="fi-FI" dirty="0" err="1"/>
              <a:t>foreign</a:t>
            </a:r>
            <a:r>
              <a:rPr lang="fi-FI" dirty="0"/>
              <a:t> </a:t>
            </a:r>
            <a:r>
              <a:rPr lang="fi-FI" dirty="0" err="1"/>
              <a:t>keys</a:t>
            </a:r>
            <a:r>
              <a:rPr lang="fi-FI" dirty="0"/>
              <a:t>)</a:t>
            </a:r>
          </a:p>
          <a:p>
            <a:pPr lvl="0"/>
            <a:r>
              <a:rPr lang="fi-FI" dirty="0"/>
              <a:t>liitostauluihin (bridge </a:t>
            </a:r>
            <a:r>
              <a:rPr lang="fi-FI" dirty="0" err="1"/>
              <a:t>tables</a:t>
            </a:r>
            <a:r>
              <a:rPr lang="fi-FI" dirty="0"/>
              <a:t>)</a:t>
            </a:r>
          </a:p>
          <a:p>
            <a:pPr lvl="0"/>
            <a:r>
              <a:rPr lang="fi-FI" dirty="0"/>
              <a:t>Jos haluat oppia lisää siitä, miten </a:t>
            </a:r>
            <a:r>
              <a:rPr lang="fi-FI" dirty="0" err="1"/>
              <a:t>Lucidchart</a:t>
            </a:r>
            <a:r>
              <a:rPr lang="fi-FI" dirty="0"/>
              <a:t> voi auttaa datan visualisoinnissa, tutustu sivustoon </a:t>
            </a:r>
            <a:r>
              <a:rPr lang="fi-FI" b="1" dirty="0"/>
              <a:t>training.lucid.co</a:t>
            </a:r>
            <a:r>
              <a:rPr lang="fi-FI" dirty="0"/>
              <a:t>. Toivottavasti nähdään siellä!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87122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7684">
              <a:defRPr/>
            </a:pPr>
            <a:r>
              <a:rPr lang="fi-FI" dirty="0" err="1"/>
              <a:t>VSCoden</a:t>
            </a:r>
            <a:r>
              <a:rPr lang="fi-FI" dirty="0"/>
              <a:t> käyttäjälle on useita vaihtoehtoja </a:t>
            </a:r>
            <a:r>
              <a:rPr lang="fi-FI" dirty="0" err="1"/>
              <a:t>ERD:n</a:t>
            </a:r>
            <a:r>
              <a:rPr lang="fi-FI" dirty="0"/>
              <a:t> tekemiseen.</a:t>
            </a:r>
          </a:p>
          <a:p>
            <a:pPr defTabSz="947684">
              <a:defRPr/>
            </a:pPr>
            <a:r>
              <a:rPr lang="fi-FI" dirty="0"/>
              <a:t>Voit tehdä koodit </a:t>
            </a:r>
            <a:r>
              <a:rPr lang="fi-FI" dirty="0" err="1"/>
              <a:t>VSCodeen</a:t>
            </a:r>
            <a:r>
              <a:rPr lang="fi-FI" dirty="0"/>
              <a:t> ja esikatselussa näet sen valmiina.</a:t>
            </a:r>
          </a:p>
          <a:p>
            <a:pPr defTabSz="947684">
              <a:defRPr/>
            </a:pPr>
            <a:endParaRPr lang="fi-FI" dirty="0"/>
          </a:p>
          <a:p>
            <a:pPr defTabSz="947684">
              <a:defRPr/>
            </a:pPr>
            <a:r>
              <a:rPr lang="fi-FI" dirty="0"/>
              <a:t>Koodi kirjoitetaan koodi-ikkunaan. Esikatselussa näet kaavan valmiina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96218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58976A-7AE2-6002-5D97-578D0A25A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E124C894-245D-F56A-7802-E0496710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B461245-7B45-20AF-DA8C-B7AD4248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3492C51-2490-9B3E-0C8B-DC4EC90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5BFC18B-6101-AB9E-7290-E42CA233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547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215DDBE-51F3-6792-2E6E-BDCB3BEE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A24CC22-291E-622F-86F1-E003DB85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146C943-827A-EA6F-6886-4AB2FD7C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41758D3-FEE9-C0F6-EA1D-74D62300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8767F0B-28CF-EBB6-EBD3-E52DA12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903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7542EA2-C28B-2D54-163F-A9DFCA83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7C9324F-976A-F4D3-7BA5-95D6113F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6DEB96-61F5-C4FB-1EE7-F09276C4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680A73B-93D7-EF5C-3990-58886410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05D4D29-A616-457A-6B19-98394773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538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9195F9-7F1D-890E-1C8B-AB39615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512692F-BF85-56FA-A153-3AB43E79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494D9FB-C8D4-C051-AB27-0B5CFFFE5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945AC3EC-2B3F-9511-2E28-6E7B4D23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0D560AF1-7EDF-2729-7F3E-B706890D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E3AC754-6851-3866-55BC-9FC0A2BC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789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6C6D9B0-F743-96A2-E02C-BBA29A6F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6A5A0A5-D5EF-03FD-F2CE-8A60385B0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2719458-25C3-E428-1B2F-1C963629B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C11DEFF1-60AE-576D-7F05-431F66F0B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5C5467A2-4205-3061-1DE9-2029F3F9E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6C6B364-7E23-29E4-CF92-E3678C89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59C0A34-FB90-5D7D-6DBB-2BDCD954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F7B5C5D4-191C-02C6-571C-45C21AD1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49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FFA054-CE66-8E3F-0B28-7CDC826C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DCDE7090-2EF4-5C71-B098-BBCBF3E7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73F1909-ADA8-713E-2735-BA55E1C5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BF18332-CB29-CD4D-1931-ADEB0F62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070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2463E1EB-13CE-0B98-4375-EB038C03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AB947B9F-700A-0139-42AB-6C6B5718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F51E3B3-9891-AF18-003D-95193DEB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6583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908482-FEA5-0DEE-785D-A24D80C2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67176E-9140-BD47-D4CA-B89DC06F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FF395A06-37C7-9DDE-6CD8-F111962B0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08BE708-079A-DA60-43C6-670E2F6F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A15F6AE-9B8C-A09C-8665-9AAE4552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49F29406-643B-2F1D-BDDE-47FD382F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258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DE6332-498B-BE4C-DF95-9632C5C7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26BE2EA0-1790-1C8A-25FE-4271B6A55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614F0B6B-BB69-A947-B3C6-F133449FA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F01F7A90-81B1-2308-3972-13EA9B70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D2D9479-810A-7454-0AB1-BB671FFD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DF98EC5-E469-3A8E-97DC-DEE81F21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177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5B5CFF1-D87E-C403-FDF8-E7A63FE0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4939835-9A81-FC88-E734-FA9D94EFA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1ACE20-6614-3BD7-3D4B-0F6F69DE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20F7CBD-E7B9-62FE-0A6D-D842A542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AC76630-4FE3-DFC9-5D06-E8E05029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12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ACF85271-4ADB-38AC-3735-7CFEAC8E7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958B1153-D835-81F7-85F9-626244236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CDE8DCF-ADF3-49FD-8E00-DB66608A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D06C3E1-6D4A-617E-6412-1DC53E3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1B4EC36-DA70-D21D-0C78-AB489AC9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905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17F6AFA-12C1-D392-1FD1-CD0293C1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F32B59E-FF66-D44F-0F94-C0940D3A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EBC691E-CF40-214E-4156-C56033B0C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78FD4-BF0A-4FBB-ABC1-E6EFAD9FF644}" type="datetimeFigureOut">
              <a:rPr lang="fi-FI" smtClean="0"/>
              <a:t>7.1.2026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0775867-01F5-4C77-5BA5-068B8566C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1FF413A-9F74-B81B-ED96-DE42B0B86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557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B8FFFE87-F629-3404-C4C4-347948AA34F6}"/>
              </a:ext>
            </a:extLst>
          </p:cNvPr>
          <p:cNvSpPr/>
          <p:nvPr/>
        </p:nvSpPr>
        <p:spPr>
          <a:xfrm>
            <a:off x="4137891" y="2724727"/>
            <a:ext cx="3990109" cy="1496291"/>
          </a:xfrm>
          <a:prstGeom prst="roundRect">
            <a:avLst/>
          </a:prstGeom>
          <a:solidFill>
            <a:srgbClr val="0037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1BF3963C-1E95-9D7F-D326-42378EDB7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001818"/>
            <a:ext cx="10058400" cy="898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i-FI" sz="5200" dirty="0">
                <a:solidFill>
                  <a:srgbClr val="FFFFFF"/>
                </a:solidFill>
              </a:rPr>
              <a:t>ERD- kaaviot</a:t>
            </a:r>
          </a:p>
        </p:txBody>
      </p:sp>
    </p:spTree>
    <p:extLst>
      <p:ext uri="{BB962C8B-B14F-4D97-AF65-F5344CB8AC3E}">
        <p14:creationId xmlns:p14="http://schemas.microsoft.com/office/powerpoint/2010/main" val="277694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4BCAB5-6E1C-EFAE-8D42-34ADB6F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1" dirty="0"/>
              <a:t>Johdanto: ER- kaaviot (ERD)</a:t>
            </a:r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4FD878-A7C5-DCB9-464B-6DBAE6F2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6309" cy="4351338"/>
          </a:xfrm>
        </p:spPr>
        <p:txBody>
          <a:bodyPr>
            <a:normAutofit/>
          </a:bodyPr>
          <a:lstStyle/>
          <a:p>
            <a:pPr lvl="0"/>
            <a:r>
              <a:rPr lang="fi-FI" dirty="0" err="1"/>
              <a:t>Entity</a:t>
            </a:r>
            <a:r>
              <a:rPr lang="fi-FI" dirty="0"/>
              <a:t> </a:t>
            </a:r>
            <a:r>
              <a:rPr lang="fi-FI" dirty="0" err="1"/>
              <a:t>Relationship</a:t>
            </a:r>
            <a:r>
              <a:rPr lang="fi-FI" dirty="0"/>
              <a:t> </a:t>
            </a:r>
            <a:r>
              <a:rPr lang="fi-FI" dirty="0" err="1"/>
              <a:t>Diagram</a:t>
            </a:r>
            <a:endParaRPr lang="fi-FI" dirty="0"/>
          </a:p>
          <a:p>
            <a:pPr lvl="1"/>
            <a:r>
              <a:rPr lang="fi-FI" dirty="0"/>
              <a:t>ER- kaavio, ERD</a:t>
            </a:r>
          </a:p>
          <a:p>
            <a:r>
              <a:rPr lang="fi-FI" dirty="0"/>
              <a:t>ERD yleiskuva</a:t>
            </a:r>
          </a:p>
          <a:p>
            <a:r>
              <a:rPr lang="fi-FI" dirty="0"/>
              <a:t>Entiteetit, attribuutit, </a:t>
            </a:r>
            <a:r>
              <a:rPr lang="fi-FI" b="1" dirty="0"/>
              <a:t>relaatiot</a:t>
            </a:r>
            <a:r>
              <a:rPr lang="fi-FI" dirty="0"/>
              <a:t> ja </a:t>
            </a:r>
            <a:r>
              <a:rPr lang="fi-FI" dirty="0" err="1"/>
              <a:t>kardinaliteetit</a:t>
            </a:r>
            <a:endParaRPr lang="fi-FI" dirty="0"/>
          </a:p>
          <a:p>
            <a:r>
              <a:rPr lang="fi-FI" dirty="0"/>
              <a:t>Tavoitteena oppia </a:t>
            </a:r>
            <a:r>
              <a:rPr lang="fi-FI" dirty="0" err="1"/>
              <a:t>ERD:n</a:t>
            </a:r>
            <a:r>
              <a:rPr lang="fi-FI" dirty="0"/>
              <a:t> tekeminen alusta loppuun asti itse</a:t>
            </a:r>
          </a:p>
          <a:p>
            <a:endParaRPr lang="fi-FI" dirty="0"/>
          </a:p>
          <a:p>
            <a:endParaRPr lang="fi-FI" dirty="0"/>
          </a:p>
        </p:txBody>
      </p:sp>
      <p:pic>
        <p:nvPicPr>
          <p:cNvPr id="5" name="Kuva 4" descr="Kuva, joka sisältää kohteen teksti, kuvakaappaus, Fontti, tulostaulu&#10;&#10;Tekoälyllä luotu sisältö voi olla virheellistä.">
            <a:extLst>
              <a:ext uri="{FF2B5EF4-FFF2-40B4-BE49-F238E27FC236}">
                <a16:creationId xmlns:a16="http://schemas.microsoft.com/office/drawing/2014/main" id="{F5CD2392-94FA-7838-964B-8DD707537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618" y="151238"/>
            <a:ext cx="3145041" cy="65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4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68DEAF5-981D-F021-DB6A-01517C63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lvl="0" algn="r"/>
            <a:r>
              <a:rPr lang="fi-FI" sz="4000" b="1">
                <a:solidFill>
                  <a:srgbClr val="FFFFFF"/>
                </a:solidFill>
              </a:rPr>
              <a:t>Ensin kuitenkin…</a:t>
            </a:r>
            <a:br>
              <a:rPr lang="fi-FI" sz="4000" b="1">
                <a:solidFill>
                  <a:srgbClr val="FFFFFF"/>
                </a:solidFill>
              </a:rPr>
            </a:br>
            <a:r>
              <a:rPr lang="fi-FI" sz="4000" b="1">
                <a:solidFill>
                  <a:srgbClr val="FFFFFF"/>
                </a:solidFill>
              </a:rPr>
              <a:t>Miksi tietokantoja tarvitaan?</a:t>
            </a:r>
            <a:endParaRPr lang="fi-FI" sz="4000">
              <a:solidFill>
                <a:srgbClr val="FFFFFF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C3ADC3E-E759-8507-939C-07803294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fi-FI" sz="2000"/>
              <a:t>Miten …</a:t>
            </a:r>
          </a:p>
          <a:p>
            <a:pPr lvl="1"/>
            <a:r>
              <a:rPr lang="fi-FI" sz="2000" i="1"/>
              <a:t>sähköpostijärjestelmä tietää, että jokin käyttäjänimi on jo valittu?</a:t>
            </a:r>
          </a:p>
          <a:p>
            <a:pPr lvl="1"/>
            <a:r>
              <a:rPr lang="fi-FI" sz="2000" i="1"/>
              <a:t>verkkokauppa tietää, että myytävänä on enää 150 paria lenkkareita?</a:t>
            </a:r>
          </a:p>
          <a:p>
            <a:pPr lvl="1"/>
            <a:r>
              <a:rPr lang="fi-FI" sz="2000" i="1"/>
              <a:t>kirjasto tietää, kenellä mikäkin kirja on lainassa?</a:t>
            </a:r>
          </a:p>
          <a:p>
            <a:pPr lvl="1"/>
            <a:r>
              <a:rPr lang="fi-FI" sz="2000" i="1"/>
              <a:t>kenelle kuuluu auto, jonka rekisteritunnus on ABC-123?</a:t>
            </a:r>
          </a:p>
          <a:p>
            <a:pPr lvl="0"/>
            <a:r>
              <a:rPr lang="fi-FI" sz="2000"/>
              <a:t>Vastaus: tieto löytyy tietokannasta</a:t>
            </a:r>
          </a:p>
          <a:p>
            <a:pPr lvl="0"/>
            <a:r>
              <a:rPr lang="fi-FI" sz="2000"/>
              <a:t>Tietokanta: tiedon järjestäminen niin, että on helppo löytää, hallita, muuttaa, hakea…</a:t>
            </a:r>
          </a:p>
          <a:p>
            <a:pPr lvl="0"/>
            <a:r>
              <a:rPr lang="fi-FI" sz="2000">
                <a:sym typeface="Wingdings" panose="05000000000000000000" pitchFamily="2" charset="2"/>
              </a:rPr>
              <a:t>Tietokantoja ovat monesti myös rekisterit, arkistot, hakemistot jne.</a:t>
            </a:r>
          </a:p>
        </p:txBody>
      </p:sp>
    </p:spTree>
    <p:extLst>
      <p:ext uri="{BB962C8B-B14F-4D97-AF65-F5344CB8AC3E}">
        <p14:creationId xmlns:p14="http://schemas.microsoft.com/office/powerpoint/2010/main" val="133902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D518-3444-C390-B06C-A04CC3E9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82D8C54-2049-1DC2-B045-A4A937FA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Tietokantojen suunnittelu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6D8EA0-F231-5BD3-62A0-2E113D80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i-FI" dirty="0"/>
              <a:t>Tietokannoissa on </a:t>
            </a:r>
            <a:r>
              <a:rPr lang="fi-FI" b="1" dirty="0"/>
              <a:t>paljon</a:t>
            </a:r>
            <a:r>
              <a:rPr lang="fi-FI" dirty="0"/>
              <a:t> </a:t>
            </a:r>
            <a:r>
              <a:rPr lang="fi-FI" b="1" dirty="0"/>
              <a:t>tietoa, mutkikasta asiaa</a:t>
            </a:r>
          </a:p>
          <a:p>
            <a:pPr lvl="0"/>
            <a:r>
              <a:rPr lang="fi-FI" dirty="0"/>
              <a:t>Talletettava tieto pitää saada talletettua </a:t>
            </a:r>
            <a:r>
              <a:rPr lang="fi-FI" b="1" dirty="0"/>
              <a:t>loogisesti</a:t>
            </a:r>
          </a:p>
          <a:p>
            <a:pPr lvl="0"/>
            <a:r>
              <a:rPr lang="fi-FI" dirty="0"/>
              <a:t>Ja sen haun pitäisi olla </a:t>
            </a:r>
            <a:r>
              <a:rPr lang="fi-FI" b="1" dirty="0"/>
              <a:t>nopeaa</a:t>
            </a:r>
            <a:br>
              <a:rPr lang="fi-FI" b="1" dirty="0"/>
            </a:br>
            <a:endParaRPr lang="fi-FI" b="1" dirty="0"/>
          </a:p>
          <a:p>
            <a:pPr lvl="0"/>
            <a:r>
              <a:rPr lang="fi-FI" dirty="0"/>
              <a:t>Tähän tulee apuun ERD. ER-kaavio.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ERD…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helpottaa tietokannan suunnittelua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kuvaa, miten mikäkin tieto liittyy toiseen tietoon 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… miten talletetut tiedot toimivat yhdessä</a:t>
            </a:r>
          </a:p>
          <a:p>
            <a:pPr lvl="1"/>
            <a:endParaRPr lang="fi-FI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7593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A7ABB90-9CF0-2A89-745E-FBBC8594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ERD:llä</a:t>
            </a:r>
            <a:r>
              <a:rPr lang="fi-FI" dirty="0"/>
              <a:t> voidaan kuvata tietokannan osia ja osien välisiä suhteita (”relaatioita”)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8D37446-0EAA-0150-AC00-62578BFB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Esimerkiksi, että ”tässä tietokannassa…”</a:t>
            </a: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D36F28A6-D3DA-7738-E381-CF949B0BB9E0}"/>
              </a:ext>
            </a:extLst>
          </p:cNvPr>
          <p:cNvSpPr txBox="1"/>
          <p:nvPr/>
        </p:nvSpPr>
        <p:spPr>
          <a:xfrm>
            <a:off x="933820" y="4944401"/>
            <a:ext cx="1309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jokaisella henkilöllä</a:t>
            </a:r>
          </a:p>
          <a:p>
            <a:r>
              <a:rPr lang="fi-FI" sz="1200" dirty="0"/>
              <a:t>on yksi ja vain yksi</a:t>
            </a:r>
          </a:p>
          <a:p>
            <a:r>
              <a:rPr lang="fi-FI" sz="1200" dirty="0"/>
              <a:t>Henkilötunnus. Ja tietty hetu kuuluu vain yhdelle ihmiselle</a:t>
            </a:r>
          </a:p>
        </p:txBody>
      </p:sp>
      <p:pic>
        <p:nvPicPr>
          <p:cNvPr id="18" name="Kuva 17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9D6432BF-270A-C35F-AF9A-53AE0252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13" y="2234521"/>
            <a:ext cx="1448002" cy="2695951"/>
          </a:xfrm>
          <a:prstGeom prst="rect">
            <a:avLst/>
          </a:prstGeom>
        </p:spPr>
      </p:pic>
      <p:pic>
        <p:nvPicPr>
          <p:cNvPr id="20" name="Kuva 19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713D37C2-10B0-81BA-1394-59F53EB7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12" y="2257976"/>
            <a:ext cx="1619476" cy="2686425"/>
          </a:xfrm>
          <a:prstGeom prst="rect">
            <a:avLst/>
          </a:prstGeom>
        </p:spPr>
      </p:pic>
      <p:sp>
        <p:nvSpPr>
          <p:cNvPr id="21" name="Tekstiruutu 20">
            <a:extLst>
              <a:ext uri="{FF2B5EF4-FFF2-40B4-BE49-F238E27FC236}">
                <a16:creationId xmlns:a16="http://schemas.microsoft.com/office/drawing/2014/main" id="{2A14CE89-C314-3F8F-4875-AD46B803EED5}"/>
              </a:ext>
            </a:extLst>
          </p:cNvPr>
          <p:cNvSpPr txBox="1"/>
          <p:nvPr/>
        </p:nvSpPr>
        <p:spPr>
          <a:xfrm>
            <a:off x="2447511" y="4944401"/>
            <a:ext cx="1528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autoissa on yksilöllinen rekisterinumero.</a:t>
            </a:r>
          </a:p>
          <a:p>
            <a:r>
              <a:rPr lang="fi-FI" sz="1200" dirty="0"/>
              <a:t>Yksi </a:t>
            </a:r>
            <a:r>
              <a:rPr lang="fi-FI" sz="1200" dirty="0" err="1"/>
              <a:t>reksiterinumero</a:t>
            </a:r>
            <a:r>
              <a:rPr lang="fi-FI" sz="1200" dirty="0"/>
              <a:t> kuuluu yhdelle ja vain yhdelle autolle</a:t>
            </a:r>
          </a:p>
        </p:txBody>
      </p:sp>
      <p:pic>
        <p:nvPicPr>
          <p:cNvPr id="25" name="Kuva 24" descr="Kuva, joka sisältää kohteen teksti, Fontti, diagrammi, kuvakaappaus&#10;&#10;Tekoälyllä luotu sisältö voi olla virheellistä.">
            <a:extLst>
              <a:ext uri="{FF2B5EF4-FFF2-40B4-BE49-F238E27FC236}">
                <a16:creationId xmlns:a16="http://schemas.microsoft.com/office/drawing/2014/main" id="{BB7BC1E1-F6F6-2109-7412-D58A31865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885" y="2315134"/>
            <a:ext cx="1495634" cy="2629267"/>
          </a:xfrm>
          <a:prstGeom prst="rect">
            <a:avLst/>
          </a:prstGeom>
        </p:spPr>
      </p:pic>
      <p:sp>
        <p:nvSpPr>
          <p:cNvPr id="26" name="Tekstiruutu 25">
            <a:extLst>
              <a:ext uri="{FF2B5EF4-FFF2-40B4-BE49-F238E27FC236}">
                <a16:creationId xmlns:a16="http://schemas.microsoft.com/office/drawing/2014/main" id="{8F94ACF5-1ED5-65AF-9218-8E6E2CD9B242}"/>
              </a:ext>
            </a:extLst>
          </p:cNvPr>
          <p:cNvSpPr txBox="1"/>
          <p:nvPr/>
        </p:nvSpPr>
        <p:spPr>
          <a:xfrm>
            <a:off x="4175884" y="4944401"/>
            <a:ext cx="1409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salasana tuottaa yksilöllisen salasanatiivisteen (</a:t>
            </a:r>
            <a:r>
              <a:rPr lang="fi-FI" sz="1200" dirty="0" err="1"/>
              <a:t>Password</a:t>
            </a:r>
            <a:r>
              <a:rPr lang="fi-FI" sz="1200" dirty="0"/>
              <a:t> </a:t>
            </a:r>
            <a:r>
              <a:rPr lang="fi-FI" sz="1200" dirty="0" err="1"/>
              <a:t>Hash</a:t>
            </a:r>
            <a:r>
              <a:rPr lang="fi-FI" sz="1200" dirty="0"/>
              <a:t>)</a:t>
            </a:r>
          </a:p>
        </p:txBody>
      </p:sp>
      <p:sp>
        <p:nvSpPr>
          <p:cNvPr id="27" name="Tekstiruutu 26">
            <a:extLst>
              <a:ext uri="{FF2B5EF4-FFF2-40B4-BE49-F238E27FC236}">
                <a16:creationId xmlns:a16="http://schemas.microsoft.com/office/drawing/2014/main" id="{5149D2B4-535E-5F40-BDEF-58BA338AD742}"/>
              </a:ext>
            </a:extLst>
          </p:cNvPr>
          <p:cNvSpPr txBox="1"/>
          <p:nvPr/>
        </p:nvSpPr>
        <p:spPr>
          <a:xfrm>
            <a:off x="6524368" y="2553730"/>
            <a:ext cx="563090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Tällä sivulla on kuvattu ”yksi yhteen”- suhteita.</a:t>
            </a:r>
          </a:p>
          <a:p>
            <a:r>
              <a:rPr lang="fi-FI" dirty="0"/>
              <a:t>Eli ”</a:t>
            </a:r>
            <a:r>
              <a:rPr lang="fi-FI" dirty="0" err="1"/>
              <a:t>one</a:t>
            </a:r>
            <a:r>
              <a:rPr lang="fi-FI" dirty="0"/>
              <a:t> to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relationship</a:t>
            </a:r>
            <a:r>
              <a:rPr lang="fi-FI" dirty="0"/>
              <a:t>”.</a:t>
            </a:r>
          </a:p>
          <a:p>
            <a:endParaRPr lang="fi-FI" dirty="0"/>
          </a:p>
          <a:p>
            <a:r>
              <a:rPr lang="fi-FI" dirty="0"/>
              <a:t>Jos nämä ovat kahdessa erillisessä tietokantataulussa,</a:t>
            </a:r>
          </a:p>
          <a:p>
            <a:r>
              <a:rPr lang="fi-FI" dirty="0"/>
              <a:t>vastaa jokaista ylemmässä taulussa olevaa attribuutti</a:t>
            </a:r>
            <a:br>
              <a:rPr lang="fi-FI" dirty="0"/>
            </a:br>
            <a:r>
              <a:rPr lang="fi-FI" dirty="0"/>
              <a:t> tasan yksi  asia alemmassa taulussa</a:t>
            </a:r>
          </a:p>
          <a:p>
            <a:endParaRPr lang="fi-FI" dirty="0"/>
          </a:p>
          <a:p>
            <a:r>
              <a:rPr lang="fi-FI" dirty="0"/>
              <a:t>Periaatteessa näissä tapauksissa asiat voitaisiin </a:t>
            </a:r>
            <a:br>
              <a:rPr lang="fi-FI" dirty="0"/>
            </a:br>
            <a:r>
              <a:rPr lang="fi-FI" dirty="0"/>
              <a:t>liittää samaan tauluun.</a:t>
            </a:r>
          </a:p>
        </p:txBody>
      </p:sp>
      <p:sp>
        <p:nvSpPr>
          <p:cNvPr id="28" name="Tekstiruutu 27">
            <a:extLst>
              <a:ext uri="{FF2B5EF4-FFF2-40B4-BE49-F238E27FC236}">
                <a16:creationId xmlns:a16="http://schemas.microsoft.com/office/drawing/2014/main" id="{18B3977D-B8E7-48D6-8ADD-B1ABB8CEC9A9}"/>
              </a:ext>
            </a:extLst>
          </p:cNvPr>
          <p:cNvSpPr txBox="1"/>
          <p:nvPr/>
        </p:nvSpPr>
        <p:spPr>
          <a:xfrm>
            <a:off x="7535591" y="5574583"/>
            <a:ext cx="2812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3600" b="1" dirty="0"/>
              <a:t>ONE TO ONE</a:t>
            </a:r>
          </a:p>
        </p:txBody>
      </p:sp>
    </p:spTree>
    <p:extLst>
      <p:ext uri="{BB962C8B-B14F-4D97-AF65-F5344CB8AC3E}">
        <p14:creationId xmlns:p14="http://schemas.microsoft.com/office/powerpoint/2010/main" val="270920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6B389A4-780B-4E57-BD79-47262244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/>
              <a:t>Entiteetit: </a:t>
            </a:r>
            <a:r>
              <a:rPr lang="fi-FI" b="1" dirty="0" err="1"/>
              <a:t>ERD:n</a:t>
            </a:r>
            <a:r>
              <a:rPr lang="fi-FI" b="1" dirty="0"/>
              <a:t> perusyksiköt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127095B-ADE5-6BCA-4A4B-2B690660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i-FI" dirty="0"/>
              <a:t>ERD- kaavioissa on muutamia osia, joiden ymmärtäminen on tärkeää.</a:t>
            </a:r>
          </a:p>
          <a:p>
            <a:pPr lvl="0"/>
            <a:r>
              <a:rPr lang="fi-FI" dirty="0"/>
              <a:t>Ensimmäisenä on </a:t>
            </a:r>
            <a:r>
              <a:rPr lang="fi-FI" b="1" dirty="0"/>
              <a:t>entiteetti</a:t>
            </a:r>
            <a:endParaRPr lang="fi-FI" dirty="0"/>
          </a:p>
          <a:p>
            <a:pPr lvl="0"/>
            <a:r>
              <a:rPr lang="fi-FI" dirty="0"/>
              <a:t>Entiteetti on tavallaan objekti, olio, jolla on erilaisia ominaisuuksia.</a:t>
            </a:r>
          </a:p>
          <a:p>
            <a:pPr lvl="0"/>
            <a:r>
              <a:rPr lang="fi-FI" dirty="0"/>
              <a:t>Esimerkiksi jos tilaisimme jotain verkkokaupassa, vaikka T-paidan, </a:t>
            </a:r>
            <a:r>
              <a:rPr lang="fi-FI" b="1" dirty="0"/>
              <a:t>entiteettejä</a:t>
            </a:r>
            <a:r>
              <a:rPr lang="fi-FI" dirty="0"/>
              <a:t> voisi olla vaikka</a:t>
            </a:r>
          </a:p>
          <a:p>
            <a:pPr lvl="1"/>
            <a:r>
              <a:rPr lang="fi-FI" b="1" dirty="0"/>
              <a:t>Tuote</a:t>
            </a:r>
            <a:r>
              <a:rPr lang="fi-FI" dirty="0"/>
              <a:t> (se T-paita, jota ollaan tilaamassa)</a:t>
            </a:r>
          </a:p>
          <a:p>
            <a:pPr lvl="1"/>
            <a:r>
              <a:rPr lang="fi-FI" b="1" dirty="0"/>
              <a:t>Asiakas</a:t>
            </a:r>
            <a:r>
              <a:rPr lang="fi-FI" dirty="0"/>
              <a:t> (se henkilö, joka tilaa)</a:t>
            </a:r>
          </a:p>
          <a:p>
            <a:pPr lvl="1"/>
            <a:r>
              <a:rPr lang="fi-FI" b="1" dirty="0"/>
              <a:t>Tilaus</a:t>
            </a:r>
            <a:r>
              <a:rPr lang="fi-FI" dirty="0"/>
              <a:t> (se tilaustapahtuma, joka tänään tehdään)</a:t>
            </a:r>
          </a:p>
          <a:p>
            <a:pPr lvl="0"/>
            <a:endParaRPr lang="fi-FI" dirty="0"/>
          </a:p>
        </p:txBody>
      </p:sp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97ADE889-CEF9-2F17-EF39-D236A027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698"/>
          <a:stretch>
            <a:fillRect/>
          </a:stretch>
        </p:blipFill>
        <p:spPr>
          <a:xfrm>
            <a:off x="9439274" y="4771235"/>
            <a:ext cx="1914525" cy="465420"/>
          </a:xfrm>
          <a:prstGeom prst="rect">
            <a:avLst/>
          </a:prstGeom>
        </p:spPr>
      </p:pic>
      <p:pic>
        <p:nvPicPr>
          <p:cNvPr id="7" name="Kuva 6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AD497E1E-8220-4B48-DC9F-75F8618CE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060" b="32745"/>
          <a:stretch>
            <a:fillRect/>
          </a:stretch>
        </p:blipFill>
        <p:spPr>
          <a:xfrm>
            <a:off x="9335366" y="5501768"/>
            <a:ext cx="1914525" cy="410082"/>
          </a:xfrm>
          <a:prstGeom prst="rect">
            <a:avLst/>
          </a:prstGeom>
        </p:spPr>
      </p:pic>
      <p:sp>
        <p:nvSpPr>
          <p:cNvPr id="23" name="Suorakulmio 22">
            <a:extLst>
              <a:ext uri="{FF2B5EF4-FFF2-40B4-BE49-F238E27FC236}">
                <a16:creationId xmlns:a16="http://schemas.microsoft.com/office/drawing/2014/main" id="{ACCDF729-9633-9DF0-5ABE-0D80C6E2E30C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24" name="Suorakulmio 23">
            <a:extLst>
              <a:ext uri="{FF2B5EF4-FFF2-40B4-BE49-F238E27FC236}">
                <a16:creationId xmlns:a16="http://schemas.microsoft.com/office/drawing/2014/main" id="{C7314B40-63ED-A30D-43ED-A7BA252BF560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25" name="Suorakulmio 24">
            <a:extLst>
              <a:ext uri="{FF2B5EF4-FFF2-40B4-BE49-F238E27FC236}">
                <a16:creationId xmlns:a16="http://schemas.microsoft.com/office/drawing/2014/main" id="{0448E313-CC62-0CD3-330A-5B55F864B4EC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6" name="Suorakulmio 25">
            <a:extLst>
              <a:ext uri="{FF2B5EF4-FFF2-40B4-BE49-F238E27FC236}">
                <a16:creationId xmlns:a16="http://schemas.microsoft.com/office/drawing/2014/main" id="{F34F0237-AD5C-C1F6-CD51-940CA35F6DB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9" name="Tekstiruutu 18">
            <a:extLst>
              <a:ext uri="{FF2B5EF4-FFF2-40B4-BE49-F238E27FC236}">
                <a16:creationId xmlns:a16="http://schemas.microsoft.com/office/drawing/2014/main" id="{46534B4E-9670-E5B2-020E-7ECBE7790A88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39981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1F3B3F4-0D93-6C36-23C6-F5607353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Attribuutit: entiteettien ominaisuudet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901A336-B44D-81C1-6C88-8CDDC6E15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90709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Entiteeteillä on ominaisuuksia ja piirteitä</a:t>
            </a:r>
          </a:p>
          <a:p>
            <a:pPr lvl="0"/>
            <a:r>
              <a:rPr lang="fi-FI" dirty="0"/>
              <a:t>Näitä kutsutaan </a:t>
            </a:r>
            <a:r>
              <a:rPr lang="fi-FI" b="1" dirty="0"/>
              <a:t>attribuuteiksi</a:t>
            </a:r>
          </a:p>
          <a:p>
            <a:r>
              <a:rPr lang="fi-FI" b="1" dirty="0"/>
              <a:t>Asiakas-</a:t>
            </a:r>
            <a:r>
              <a:rPr lang="fi-FI" dirty="0"/>
              <a:t> entiteetin attribuutteja voisi olla vaikka</a:t>
            </a:r>
            <a:br>
              <a:rPr lang="fi-FI" dirty="0"/>
            </a:br>
            <a:r>
              <a:rPr lang="fi-FI" dirty="0"/>
              <a:t>nimi, osoite, asiakasnumero, ..</a:t>
            </a:r>
          </a:p>
          <a:p>
            <a:r>
              <a:rPr lang="fi-FI" dirty="0"/>
              <a:t>Vastaavasti  </a:t>
            </a:r>
            <a:r>
              <a:rPr lang="fi-FI" b="1" dirty="0"/>
              <a:t>tuotteella</a:t>
            </a:r>
            <a:r>
              <a:rPr lang="fi-FI" dirty="0"/>
              <a:t> olisi tuotenumero, väri, koko, materiaali…</a:t>
            </a:r>
          </a:p>
          <a:p>
            <a:r>
              <a:rPr lang="fi-FI" dirty="0"/>
              <a:t>ERD</a:t>
            </a:r>
            <a:r>
              <a:rPr lang="fi-FI" baseline="30000" dirty="0"/>
              <a:t>(1</a:t>
            </a:r>
            <a:r>
              <a:rPr lang="fi-FI" dirty="0"/>
              <a:t>:ssä entiteetit kuvataan laatikkoina, joissa</a:t>
            </a:r>
          </a:p>
          <a:p>
            <a:pPr lvl="1"/>
            <a:r>
              <a:rPr lang="fi-FI" dirty="0"/>
              <a:t>Entiteetin nimi on ylhäällä keskellä isoilla kirjaimilla</a:t>
            </a:r>
          </a:p>
          <a:p>
            <a:pPr lvl="1"/>
            <a:r>
              <a:rPr lang="fi-FI" dirty="0"/>
              <a:t>Attribuutit (niiden tyyppi ja nimi) ovat vaakariveillä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69B79B20-3189-F523-EC23-02FC4C084476}"/>
              </a:ext>
            </a:extLst>
          </p:cNvPr>
          <p:cNvSpPr txBox="1"/>
          <p:nvPr/>
        </p:nvSpPr>
        <p:spPr>
          <a:xfrm>
            <a:off x="1163782" y="6169709"/>
            <a:ext cx="5511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1) </a:t>
            </a:r>
            <a:r>
              <a:rPr lang="fi-FI" dirty="0" err="1"/>
              <a:t>UML:n</a:t>
            </a:r>
            <a:r>
              <a:rPr lang="fi-FI" dirty="0"/>
              <a:t> mukaisessa. UML: </a:t>
            </a:r>
            <a:r>
              <a:rPr lang="fi-FI" dirty="0" err="1"/>
              <a:t>Unified</a:t>
            </a:r>
            <a:r>
              <a:rPr lang="fi-FI" dirty="0"/>
              <a:t> </a:t>
            </a:r>
            <a:r>
              <a:rPr lang="fi-FI" dirty="0" err="1"/>
              <a:t>Markup</a:t>
            </a:r>
            <a:r>
              <a:rPr lang="fi-FI" dirty="0"/>
              <a:t> Language</a:t>
            </a:r>
            <a:br>
              <a:rPr lang="fi-FI" dirty="0"/>
            </a:br>
            <a:r>
              <a:rPr lang="fi-FI" dirty="0"/>
              <a:t>https://fi.wikipedia.org/wiki/UML-mallinnus</a:t>
            </a:r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47A84858-8106-B53A-C738-FCAE8549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343"/>
          <a:stretch>
            <a:fillRect/>
          </a:stretch>
        </p:blipFill>
        <p:spPr>
          <a:xfrm>
            <a:off x="9628909" y="1686380"/>
            <a:ext cx="1914525" cy="2034352"/>
          </a:xfrm>
          <a:prstGeom prst="rect">
            <a:avLst/>
          </a:prstGeom>
        </p:spPr>
      </p:pic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AF789B4D-A5D1-6178-CBFE-D901EF99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722"/>
          <a:stretch>
            <a:fillRect/>
          </a:stretch>
        </p:blipFill>
        <p:spPr>
          <a:xfrm>
            <a:off x="9533902" y="3855669"/>
            <a:ext cx="1914525" cy="2065412"/>
          </a:xfrm>
          <a:prstGeom prst="rect">
            <a:avLst/>
          </a:prstGeom>
        </p:spPr>
      </p:pic>
      <p:sp>
        <p:nvSpPr>
          <p:cNvPr id="11" name="Suorakulmio 10">
            <a:extLst>
              <a:ext uri="{FF2B5EF4-FFF2-40B4-BE49-F238E27FC236}">
                <a16:creationId xmlns:a16="http://schemas.microsoft.com/office/drawing/2014/main" id="{3ABC88C7-8C67-13AA-EC22-EFDA4FCD06DC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164FB65E-2D2A-5C9D-9A9D-1FEBEEDE852C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4356C41C-D72C-3A71-C38C-920A00CE8ADF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157E3528-F7FA-DEEE-5472-D898AE0EEE33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9161777C-C085-90CE-C4EB-7E45727973C7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21393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A2AA-CD82-E45C-A36A-3BB88834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DE998C0-F674-DC18-2359-B18961BC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Attribuuttien tyyppi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2ADFB0-2BD2-EF8E-12D0-EE422B86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5351" cy="451750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fi-FI" dirty="0"/>
              <a:t>ER- kaaviossa esitellään attribuutit</a:t>
            </a:r>
          </a:p>
          <a:p>
            <a:pPr lvl="0"/>
            <a:r>
              <a:rPr lang="fi-FI" dirty="0"/>
              <a:t>Merkitse myös attribuuttien tyypit:</a:t>
            </a:r>
          </a:p>
          <a:p>
            <a:pPr lvl="1"/>
            <a:r>
              <a:rPr lang="fi-FI" dirty="0"/>
              <a:t>Kokonaisluku (</a:t>
            </a:r>
            <a:r>
              <a:rPr lang="fi-FI" dirty="0" err="1"/>
              <a:t>integer</a:t>
            </a:r>
            <a:r>
              <a:rPr lang="fi-FI" dirty="0"/>
              <a:t>): </a:t>
            </a:r>
            <a:r>
              <a:rPr lang="fi-FI" b="1" dirty="0" err="1"/>
              <a:t>int</a:t>
            </a:r>
            <a:endParaRPr lang="fi-FI" b="1" dirty="0"/>
          </a:p>
          <a:p>
            <a:pPr lvl="1"/>
            <a:r>
              <a:rPr lang="fi-FI" dirty="0"/>
              <a:t>Desimaaliluku(</a:t>
            </a:r>
            <a:r>
              <a:rPr lang="fi-FI" dirty="0" err="1"/>
              <a:t>decimal</a:t>
            </a:r>
            <a:r>
              <a:rPr lang="fi-FI" dirty="0"/>
              <a:t>, </a:t>
            </a:r>
            <a:r>
              <a:rPr lang="fi-FI" dirty="0" err="1"/>
              <a:t>numeric</a:t>
            </a:r>
            <a:r>
              <a:rPr lang="fi-FI" dirty="0"/>
              <a:t>): </a:t>
            </a:r>
            <a:r>
              <a:rPr lang="fi-FI" b="1" dirty="0" err="1"/>
              <a:t>dec</a:t>
            </a:r>
            <a:r>
              <a:rPr lang="fi-FI" b="1" dirty="0"/>
              <a:t>, </a:t>
            </a:r>
            <a:r>
              <a:rPr lang="fi-FI" b="1" dirty="0" err="1"/>
              <a:t>num</a:t>
            </a:r>
            <a:endParaRPr lang="fi-FI" b="1" dirty="0"/>
          </a:p>
          <a:p>
            <a:pPr lvl="1"/>
            <a:r>
              <a:rPr lang="fi-FI" dirty="0"/>
              <a:t>Merkkijono: </a:t>
            </a:r>
            <a:r>
              <a:rPr lang="fi-FI" b="1" dirty="0" err="1"/>
              <a:t>str</a:t>
            </a:r>
            <a:r>
              <a:rPr lang="fi-FI" b="1" dirty="0"/>
              <a:t> (</a:t>
            </a:r>
            <a:r>
              <a:rPr lang="fi-FI" b="1" dirty="0" err="1"/>
              <a:t>string</a:t>
            </a:r>
            <a:r>
              <a:rPr lang="fi-FI" b="1" dirty="0"/>
              <a:t>)</a:t>
            </a:r>
          </a:p>
          <a:p>
            <a:pPr lvl="1"/>
            <a:r>
              <a:rPr lang="fi-FI" dirty="0"/>
              <a:t>Päivämäärä: </a:t>
            </a:r>
            <a:r>
              <a:rPr lang="fi-FI" b="1" dirty="0" err="1"/>
              <a:t>date</a:t>
            </a:r>
            <a:endParaRPr lang="fi-FI" b="1" dirty="0"/>
          </a:p>
          <a:p>
            <a:pPr lvl="1"/>
            <a:r>
              <a:rPr lang="fi-FI" dirty="0"/>
              <a:t>Aika: </a:t>
            </a:r>
            <a:r>
              <a:rPr lang="fi-FI" b="1" dirty="0" err="1"/>
              <a:t>time</a:t>
            </a:r>
            <a:endParaRPr lang="fi-FI" b="1" dirty="0"/>
          </a:p>
          <a:p>
            <a:pPr lvl="1"/>
            <a:r>
              <a:rPr lang="fi-FI" dirty="0"/>
              <a:t>Päivämäärä ja aika: </a:t>
            </a:r>
          </a:p>
          <a:p>
            <a:pPr lvl="2"/>
            <a:r>
              <a:rPr lang="fi-FI" b="1" dirty="0" err="1"/>
              <a:t>datetime</a:t>
            </a:r>
            <a:r>
              <a:rPr lang="fi-FI" dirty="0"/>
              <a:t> (syntymäaika, tapahtuma, 1000-9999)</a:t>
            </a:r>
            <a:endParaRPr lang="fi-FI" b="1" dirty="0"/>
          </a:p>
          <a:p>
            <a:pPr lvl="2"/>
            <a:r>
              <a:rPr lang="fi-FI" b="1" dirty="0" err="1"/>
              <a:t>timestamp</a:t>
            </a:r>
            <a:r>
              <a:rPr lang="fi-FI" dirty="0"/>
              <a:t>  (ottaa aikavyöhykkeen huomioon, 1970-2038)</a:t>
            </a:r>
          </a:p>
          <a:p>
            <a:pPr lvl="1"/>
            <a:r>
              <a:rPr lang="fi-FI" dirty="0"/>
              <a:t>Totuusarvo (</a:t>
            </a:r>
            <a:r>
              <a:rPr lang="fi-FI" dirty="0" err="1"/>
              <a:t>true</a:t>
            </a:r>
            <a:r>
              <a:rPr lang="fi-FI" dirty="0"/>
              <a:t>/</a:t>
            </a:r>
            <a:r>
              <a:rPr lang="fi-FI" dirty="0" err="1"/>
              <a:t>false</a:t>
            </a:r>
            <a:r>
              <a:rPr lang="fi-FI" dirty="0"/>
              <a:t>, tosi/epätosi, kyllä/ei): </a:t>
            </a:r>
            <a:r>
              <a:rPr lang="fi-FI" b="1" dirty="0" err="1"/>
              <a:t>bool</a:t>
            </a:r>
            <a:endParaRPr lang="fi-FI" b="1" dirty="0"/>
          </a:p>
          <a:p>
            <a:pPr lvl="1"/>
            <a:endParaRPr lang="fi-FI" dirty="0"/>
          </a:p>
          <a:p>
            <a:pPr lvl="0"/>
            <a:r>
              <a:rPr lang="fi-FI" dirty="0"/>
              <a:t>Avainkenttään merkitään PK (</a:t>
            </a:r>
            <a:r>
              <a:rPr lang="fi-FI" dirty="0" err="1"/>
              <a:t>primary</a:t>
            </a:r>
            <a:r>
              <a:rPr lang="fi-FI" dirty="0"/>
              <a:t> </a:t>
            </a:r>
            <a:r>
              <a:rPr lang="fi-FI" dirty="0" err="1"/>
              <a:t>key</a:t>
            </a:r>
            <a:r>
              <a:rPr lang="fi-FI" dirty="0"/>
              <a:t>)</a:t>
            </a:r>
          </a:p>
          <a:p>
            <a:pPr lvl="0"/>
            <a:endParaRPr lang="fi-FI" dirty="0"/>
          </a:p>
          <a:p>
            <a:pPr lvl="0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9984763B-82FC-F7B6-D698-1FC48EC15EC9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4AFB17CB-0ECA-16EC-4B35-263832B8C691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7AC49E8B-EAA3-026B-8E4D-21B581859DE4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5C6858B3-F52C-E31F-D4CF-F9609E974387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325D6C51-4AE1-9915-86E6-A5CA32F9DAA7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25" name="Kuva 2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5735148C-AC9D-48BA-5BB7-A6A90424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431" y="1387008"/>
            <a:ext cx="2160000" cy="192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3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66E6345-FE82-0AD5-4259-D2E0B4D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Miten entiteetit liittyvät toisiinsa? </a:t>
            </a:r>
            <a:br>
              <a:rPr lang="fi-FI" b="1" dirty="0"/>
            </a:br>
            <a:r>
              <a:rPr lang="fi-FI" b="1" dirty="0"/>
              <a:t>Suhteet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745F8C-962F-DACD-08E9-6F6BC78B9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48675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i-FI" dirty="0"/>
              <a:t>Nyt on käsitelty entiteetit ja attribuutit</a:t>
            </a:r>
          </a:p>
          <a:p>
            <a:pPr lvl="0"/>
            <a:r>
              <a:rPr lang="fi-FI" dirty="0"/>
              <a:t>Seuraavaksi mukaan tulevat </a:t>
            </a:r>
            <a:r>
              <a:rPr lang="fi-FI" b="1" dirty="0"/>
              <a:t>suhteet</a:t>
            </a:r>
            <a:r>
              <a:rPr lang="fi-FI" dirty="0"/>
              <a:t>. Niillä määritellään se, miten entiteetit ovat tekemisissä keskenään</a:t>
            </a:r>
          </a:p>
          <a:p>
            <a:pPr lvl="0"/>
            <a:r>
              <a:rPr lang="fi-FI" dirty="0"/>
              <a:t>Oikealla olevassa kuvassa kuvataan tilanne, jossa mahdollistetaan se, että </a:t>
            </a:r>
            <a:r>
              <a:rPr lang="fi-FI" b="1" dirty="0"/>
              <a:t>asiakas tekee tilauksen</a:t>
            </a:r>
          </a:p>
          <a:p>
            <a:pPr lvl="0"/>
            <a:r>
              <a:rPr lang="fi-FI" dirty="0"/>
              <a:t>Kaksi entiteettiä yhdistetään viivalla</a:t>
            </a:r>
          </a:p>
          <a:p>
            <a:pPr lvl="0"/>
            <a:r>
              <a:rPr lang="fi-FI" dirty="0"/>
              <a:t>Viivan päälle tulee toiminnan tai suhteen nimi (”</a:t>
            </a:r>
            <a:r>
              <a:rPr lang="fi-FI" b="1" dirty="0"/>
              <a:t>tekee</a:t>
            </a:r>
            <a:r>
              <a:rPr lang="fi-FI" dirty="0"/>
              <a:t>”)</a:t>
            </a:r>
          </a:p>
          <a:p>
            <a:pPr lvl="0"/>
            <a:r>
              <a:rPr lang="fi-FI" dirty="0"/>
              <a:t>Viivan päissä käytetään erityisiä </a:t>
            </a:r>
            <a:r>
              <a:rPr lang="fi-FI" dirty="0" err="1"/>
              <a:t>tarkenteita</a:t>
            </a:r>
            <a:r>
              <a:rPr lang="fi-FI" dirty="0"/>
              <a:t>, </a:t>
            </a:r>
            <a:r>
              <a:rPr lang="fi-FI" b="1" dirty="0" err="1"/>
              <a:t>kardinaliteetteja</a:t>
            </a:r>
            <a:endParaRPr lang="fi-FI" b="1" dirty="0"/>
          </a:p>
          <a:p>
            <a:pPr lvl="0"/>
            <a:r>
              <a:rPr lang="fi-FI" dirty="0" err="1"/>
              <a:t>Kardinaliteetit</a:t>
            </a:r>
            <a:r>
              <a:rPr lang="fi-FI" dirty="0"/>
              <a:t> kuvaavat suhteen </a:t>
            </a:r>
            <a:r>
              <a:rPr lang="fi-FI" b="1" dirty="0"/>
              <a:t>tyyppiä</a:t>
            </a:r>
          </a:p>
          <a:p>
            <a:pPr lvl="0"/>
            <a:endParaRPr lang="fi-FI" dirty="0"/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FE9B290A-E9FD-DF4A-A1FE-9F1E170E3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13" y="1690688"/>
            <a:ext cx="1533559" cy="4007996"/>
          </a:xfrm>
          <a:prstGeom prst="rect">
            <a:avLst/>
          </a:prstGeom>
        </p:spPr>
      </p:pic>
      <p:sp>
        <p:nvSpPr>
          <p:cNvPr id="9" name="Suorakulmio 8">
            <a:extLst>
              <a:ext uri="{FF2B5EF4-FFF2-40B4-BE49-F238E27FC236}">
                <a16:creationId xmlns:a16="http://schemas.microsoft.com/office/drawing/2014/main" id="{9338F002-8068-5D5F-F054-0F70762F97F9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68081446-6B1F-532E-5845-430DD0C93A60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6BB45735-FD37-AFFE-B41E-97401890492D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CCC0DB6F-C096-DE3B-D685-DE8E936D25BD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80EF9C5F-B7DE-7D60-C9D1-20275D54254A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660722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BDB50A7-39BD-60A3-78CE-499E0DF8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1/3: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16D2FBF-3CC6-F3D9-DA47-704A5FCF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dirty="0"/>
              <a:t>Kahden entiteetin välille määriteltiin suhde</a:t>
            </a:r>
          </a:p>
          <a:p>
            <a:r>
              <a:rPr lang="fi-FI" dirty="0"/>
              <a:t>Suhteita on monenlaisia. Suhteen muoto ilmoitetaan </a:t>
            </a:r>
            <a:r>
              <a:rPr lang="fi-FI" b="1" dirty="0" err="1"/>
              <a:t>kardinaliteettina</a:t>
            </a:r>
            <a:r>
              <a:rPr lang="fi-FI" dirty="0"/>
              <a:t>.</a:t>
            </a:r>
          </a:p>
          <a:p>
            <a:r>
              <a:rPr lang="fi-FI" dirty="0"/>
              <a:t>Esimerkiksi ihmisellä on yksi (ja vain yksi) paikka, jossa hän on syntynyt. Eli ”(yhdellä) ihmisellä on yksi syntymäpaikka”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”yksi yhteen”- suhde. Tai ”yksi ja vain yksi suhteessa yhteen ja vain yhteen”</a:t>
            </a:r>
          </a:p>
          <a:p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CB21D26F-8127-CAEF-8CF3-12A759D78668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ADBC7D9B-E989-7C82-C2F8-BCF9A20CFC03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3FA9930B-3145-7C09-1113-F48B2F3BE48D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1885C64A-FFAD-7AD0-91BF-15DA814B0E4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0D6BAE30-51C1-4083-0C3E-91CE3C0120F9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14" name="Kuva 13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27CAD5FF-B79B-6A2F-6986-7CE557D55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064" y="1387007"/>
            <a:ext cx="2278522" cy="40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3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405C-684C-0718-7D52-B23D63A6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099F2E5-FDA7-CAC1-09D2-F3935391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2/3: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930684C-32BB-C5DD-F310-398761E7F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dirty="0"/>
              <a:t>”Yhdellä ihmisellä on yksi synnyinpaikka”. Tämä vaikuttaa selkeältä</a:t>
            </a:r>
          </a:p>
          <a:p>
            <a:r>
              <a:rPr lang="fi-FI" dirty="0"/>
              <a:t>Entä esimerkiksi kesämökki? Jokaisella ihmisellä ei välttämättä ole yhtäkään kesämökkiä, toisella niitä voi olla useita.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”yksi moneen”- suhde. Tai ”yksi ja vain yksi suhteessa nollaan tai useampaan”</a:t>
            </a:r>
          </a:p>
          <a:p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1D545C1C-3484-C121-D483-AE21138FD0FA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E60536C8-39CA-D3EC-142C-1D60B031AB01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E195363F-9715-3E4F-4BBA-49D0BE6169B3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A7214C5A-B548-A7A0-A9E8-E87F06A58326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D1773E15-8263-0299-F866-292F12E338D6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7" name="Kuva 6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2E0176BD-BE11-6EEA-C72A-D0A861C7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108" y="1467634"/>
            <a:ext cx="2273323" cy="502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50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832C-08A0-1A3A-397E-53364ED8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0CAC303-8D45-FB61-BE6F-79EFA0B5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 3/3: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C880174-9ACA-AAB9-9412-92ADFCD0D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dirty="0"/>
              <a:t>No, on kesämökkejä, joilla on monta omistajaa</a:t>
            </a:r>
          </a:p>
          <a:p>
            <a:r>
              <a:rPr lang="fi-FI" dirty="0"/>
              <a:t>”Henkilöllä on nolla tai useampi kesämökki, ja jokaisen kesämökin omistaa yksi tai useampi henkilö”</a:t>
            </a:r>
          </a:p>
          <a:p>
            <a:r>
              <a:rPr lang="fi-FI" dirty="0"/>
              <a:t>(voiko olla kesämökki, jota kukaan ei omista??! ehkä)</a:t>
            </a:r>
          </a:p>
          <a:p>
            <a:r>
              <a:rPr lang="fi-FI" dirty="0"/>
              <a:t>Tämä suhde on </a:t>
            </a:r>
            <a:r>
              <a:rPr lang="fi-FI" dirty="0" err="1"/>
              <a:t>on</a:t>
            </a:r>
            <a:r>
              <a:rPr lang="fi-FI" dirty="0"/>
              <a:t> ”monta moneen”- suhde</a:t>
            </a:r>
          </a:p>
          <a:p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431C7CCC-8742-F31F-22C8-5AF2DF331F55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2380DEB4-5381-B515-3004-07A78A3C85C6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83AC0D56-A844-DC20-04ED-C151585D6047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75A2FBE5-3756-3C3B-2B74-90E737ADD3E3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9805459F-C3C5-166D-4972-82515E08C943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pic>
        <p:nvPicPr>
          <p:cNvPr id="5" name="Kuva 4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858AA198-D48D-D2E2-A4C1-39F8C809B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701" y="1638208"/>
            <a:ext cx="2160000" cy="483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B122-EF65-5BEB-EFBD-73675B97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9FA4CDF-3C03-110E-666E-58413A07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B974343-B5CB-36B6-639F-C80D2D30E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sz="2400" dirty="0" err="1"/>
              <a:t>Kardinaliteetteja</a:t>
            </a:r>
            <a:r>
              <a:rPr lang="fi-FI" sz="2400" dirty="0"/>
              <a:t> on monenlaisia:</a:t>
            </a:r>
          </a:p>
          <a:p>
            <a:r>
              <a:rPr lang="fi-FI" sz="2400" dirty="0"/>
              <a:t>1-1: </a:t>
            </a:r>
            <a:r>
              <a:rPr lang="fi-FI" sz="2400" b="1" dirty="0"/>
              <a:t>jokainen</a:t>
            </a:r>
            <a:r>
              <a:rPr lang="fi-FI" sz="2400" dirty="0"/>
              <a:t> kurssi on liitetty yhteen tiettyyn luokkaan</a:t>
            </a:r>
          </a:p>
          <a:p>
            <a:r>
              <a:rPr lang="fi-FI" sz="2400" dirty="0"/>
              <a:t>1-N: opettaja opettaa jotain kurssia. Hän voi opettaa monia kursseja mutta yhtä kurssia </a:t>
            </a:r>
            <a:r>
              <a:rPr lang="fi-FI" sz="2400" b="1" dirty="0"/>
              <a:t>pitää</a:t>
            </a:r>
            <a:r>
              <a:rPr lang="fi-FI" sz="2400" dirty="0"/>
              <a:t> opettaa aina </a:t>
            </a:r>
            <a:r>
              <a:rPr lang="fi-FI" sz="2400" b="1" dirty="0"/>
              <a:t>vain</a:t>
            </a:r>
            <a:r>
              <a:rPr lang="fi-FI" sz="2400" dirty="0"/>
              <a:t> yksi opettaja. Opettaja voi kyllä vaihtua mutta aina opettajia on </a:t>
            </a:r>
            <a:r>
              <a:rPr lang="fi-FI" sz="2400" b="1" dirty="0"/>
              <a:t>vain</a:t>
            </a:r>
            <a:r>
              <a:rPr lang="fi-FI" sz="2400" dirty="0"/>
              <a:t> yksi</a:t>
            </a:r>
          </a:p>
          <a:p>
            <a:r>
              <a:rPr lang="fi-FI" sz="2400" dirty="0"/>
              <a:t>0..1-N: Opettaja </a:t>
            </a:r>
            <a:r>
              <a:rPr lang="fi-FI" sz="2400" b="1" dirty="0"/>
              <a:t>saattaa olla olemassa ilman yhtään kurssia</a:t>
            </a:r>
            <a:r>
              <a:rPr lang="fi-FI" sz="2400" dirty="0"/>
              <a:t>, mutta jos kurssi on olemassa, sillä on aina yksi opettaja.</a:t>
            </a:r>
          </a:p>
          <a:p>
            <a:r>
              <a:rPr lang="fi-FI" sz="2400" dirty="0"/>
              <a:t>1-N..0: Kurssi tarvitsee </a:t>
            </a:r>
            <a:r>
              <a:rPr lang="fi-FI" sz="2400" b="1" dirty="0"/>
              <a:t>aina</a:t>
            </a:r>
            <a:r>
              <a:rPr lang="fi-FI" sz="2400" dirty="0"/>
              <a:t> yhden opettajan. Opettajalla voi olla useita kursseja tai ei yhtään.</a:t>
            </a:r>
          </a:p>
          <a:p>
            <a:endParaRPr lang="fi-FI" sz="2400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5069080F-7357-D361-6485-9D86CC20F0B0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7BBF26EF-4C28-018B-13A4-14A6E375E3DE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716BD563-CEB7-B22C-888C-D691E8BDAB51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F9764A21-D9BC-DE4C-B6BA-F391A4CC393B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FFBD226-B65E-9755-775A-06FA802B66AF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275423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B88F-D6C6-C398-141F-533C6BFF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063FBE0-94D7-1631-20A5-611269B1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Kardinaliteetti</a:t>
            </a:r>
            <a:r>
              <a:rPr lang="fi-FI" b="1" dirty="0"/>
              <a:t>: </a:t>
            </a:r>
            <a:br>
              <a:rPr lang="fi-FI" b="1" dirty="0"/>
            </a:br>
            <a:r>
              <a:rPr lang="fi-FI" b="1" dirty="0"/>
              <a:t>suhteen määrällinen luonne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C387DD4-A242-E15C-2072-F9F6A695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864" cy="4351338"/>
          </a:xfrm>
        </p:spPr>
        <p:txBody>
          <a:bodyPr>
            <a:normAutofit/>
          </a:bodyPr>
          <a:lstStyle/>
          <a:p>
            <a:r>
              <a:rPr lang="fi-FI" sz="2400" dirty="0" err="1"/>
              <a:t>Kardinaliteetteja</a:t>
            </a:r>
            <a:r>
              <a:rPr lang="fi-FI" sz="2400" dirty="0"/>
              <a:t> on monenlaisia:</a:t>
            </a:r>
          </a:p>
          <a:p>
            <a:r>
              <a:rPr lang="fi-FI" sz="2400" dirty="0"/>
              <a:t>N-M: Opiskelija voi osallistua yhdelle tai useammalle kurssille.</a:t>
            </a:r>
            <a:br>
              <a:rPr lang="fi-FI" sz="2400" dirty="0"/>
            </a:br>
            <a:r>
              <a:rPr lang="fi-FI" sz="2400" dirty="0"/>
              <a:t>Yhdelle kurssille voi osallistua useita opiskelijoita.</a:t>
            </a:r>
            <a:br>
              <a:rPr lang="fi-FI" sz="2400" dirty="0"/>
            </a:br>
            <a:r>
              <a:rPr lang="fi-FI" sz="2400" dirty="0"/>
              <a:t>Osallistuminen (esim. ilmoittautuminen) liittyy aina yhteen opiskelijaan ja yhteen kurssiin.</a:t>
            </a:r>
          </a:p>
          <a:p>
            <a:r>
              <a:rPr lang="fi-FI" sz="2400" dirty="0"/>
              <a:t>0…1 – N: Asiakas voi tehdä tilauksen tai olla tekemättä yhtään.</a:t>
            </a:r>
            <a:br>
              <a:rPr lang="fi-FI" sz="2400" dirty="0"/>
            </a:br>
            <a:r>
              <a:rPr lang="fi-FI" sz="2400" dirty="0"/>
              <a:t>Asiakas voi tehdä useita tilauksia. </a:t>
            </a:r>
            <a:br>
              <a:rPr lang="fi-FI" sz="2400" dirty="0"/>
            </a:br>
            <a:r>
              <a:rPr lang="fi-FI" sz="2400" dirty="0"/>
              <a:t>Jokaisella tilauksella on aina yksi asiakas.</a:t>
            </a:r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88267AB6-7DC0-6174-3F9C-593857AE92A0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CD9114A2-59EA-4C7F-3FE8-2D994567C256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F6D5FB66-DD14-AB3B-615C-87C5422CA100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A3F17B82-595C-8DC9-45A3-E9E4CEF08E1A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4111B95-67ED-D5F7-78D4-9934904E4904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5524DE36-6D7A-64D0-36CD-E37D90F01F2C}"/>
              </a:ext>
            </a:extLst>
          </p:cNvPr>
          <p:cNvSpPr txBox="1"/>
          <p:nvPr/>
        </p:nvSpPr>
        <p:spPr>
          <a:xfrm>
            <a:off x="4858749" y="5200574"/>
            <a:ext cx="76290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Viiva | Merkitys| Esimerkki                       |</a:t>
            </a:r>
          </a:p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|-------|---------|---------------------------------|</a:t>
            </a:r>
          </a:p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||--|| | 1–1    | Kurssi pidetään Luokassa        |</a:t>
            </a:r>
          </a:p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||--o{ | 1–N    | Opettaja opettaa Kurssia        |</a:t>
            </a:r>
          </a:p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}o--o{ | N–M    | Opiskelija osallistuu Kurssille |</a:t>
            </a:r>
          </a:p>
          <a:p>
            <a:r>
              <a:rPr lang="fi-FI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 o|--o{ | 0..1–N | Asiakas voi tehdä Tilauksen     |</a:t>
            </a:r>
          </a:p>
        </p:txBody>
      </p:sp>
    </p:spTree>
    <p:extLst>
      <p:ext uri="{BB962C8B-B14F-4D97-AF65-F5344CB8AC3E}">
        <p14:creationId xmlns:p14="http://schemas.microsoft.com/office/powerpoint/2010/main" val="145086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67FB26E-23F4-5178-6AC4-6E50644C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Asiakkaan ja tilauksen välinen suhde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62B004B-08E4-8583-1A66-6183B4960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D739AFA3-0FB7-554A-7CA5-5F4FBE00CB67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30B0666-7B7A-1BF9-0960-62E92F0A37CC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6DD96DD6-7A76-905B-2104-E459CFB06081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3266B6B2-78E7-A39C-1187-1F8B42E30D2C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304CD981-50D9-9101-BEE0-EC366A72EE0F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293749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F014FB0-A806-2A71-7AB9-0715AF3E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Tilauksen ja asiakkaan välinen suhde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4570F71-F769-40A6-878D-5B4D23225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AE589D6A-BD8E-168D-56D4-64CA8E1F92CD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9C101C3E-AA74-C559-DB11-E0351EC6A55E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E3FA2CC3-DC74-266A-2AAE-C0517C82CDB2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30CA2C89-1FB0-17CE-52D9-D1F88C46926B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9258294E-BF37-6606-1AA8-6FC0B168D0DC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245747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49725E8-7D4F-6410-3C2F-1B271255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/>
              <a:t>Suhteen </a:t>
            </a:r>
            <a:r>
              <a:rPr lang="fi-FI" b="1" dirty="0" err="1"/>
              <a:t>kardinaliteetti</a:t>
            </a:r>
            <a:r>
              <a:rPr lang="fi-FI" b="1" dirty="0"/>
              <a:t> 1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C454063-C83F-EF74-408A-A95E404D9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15375" cy="4351338"/>
          </a:xfrm>
        </p:spPr>
        <p:txBody>
          <a:bodyPr/>
          <a:lstStyle/>
          <a:p>
            <a:r>
              <a:rPr lang="fi-FI" dirty="0" err="1"/>
              <a:t>Kardinaliteetti</a:t>
            </a:r>
            <a:r>
              <a:rPr lang="fi-FI" dirty="0"/>
              <a:t> ilmaisee kahden entiteetin välisen monikollisuuden, pakollisuuden tai valinnaisuuden</a:t>
            </a:r>
          </a:p>
          <a:p>
            <a:r>
              <a:rPr lang="fi-FI" dirty="0" err="1"/>
              <a:t>UML:ssä</a:t>
            </a:r>
            <a:r>
              <a:rPr lang="fi-FI" dirty="0"/>
              <a:t> tähän käytetään ”</a:t>
            </a:r>
            <a:r>
              <a:rPr lang="fi-FI" dirty="0" err="1"/>
              <a:t>Crow’a</a:t>
            </a:r>
            <a:r>
              <a:rPr lang="fi-FI" dirty="0"/>
              <a:t> </a:t>
            </a:r>
            <a:r>
              <a:rPr lang="fi-FI" dirty="0" err="1"/>
              <a:t>Foot</a:t>
            </a:r>
            <a:r>
              <a:rPr lang="fi-FI" dirty="0"/>
              <a:t>”- notaatiota</a:t>
            </a:r>
          </a:p>
          <a:p>
            <a:r>
              <a:rPr lang="fi-FI" dirty="0"/>
              <a:t>Esimerkiksi oikealla oleva kuva:</a:t>
            </a:r>
          </a:p>
          <a:p>
            <a:pPr lvl="1"/>
            <a:r>
              <a:rPr lang="fi-FI" dirty="0"/>
              <a:t>Yhdistävässä viivassa on asiakaspuolella kaksi poikkiviivaa</a:t>
            </a:r>
          </a:p>
          <a:p>
            <a:pPr lvl="1"/>
            <a:r>
              <a:rPr lang="fi-FI" dirty="0"/>
              <a:t>Se tarkoittaa sitä, että </a:t>
            </a:r>
            <a:r>
              <a:rPr lang="fi-FI" b="1" dirty="0"/>
              <a:t>yhdellä tilauksella voi olla vain yksi asiakas. Ei enempää eikä vähempää. </a:t>
            </a:r>
          </a:p>
          <a:p>
            <a:pPr lvl="1"/>
            <a:r>
              <a:rPr lang="fi-FI" b="1" dirty="0"/>
              <a:t>Ei voi olla tilausta, joka ei kuulu kellekään.</a:t>
            </a:r>
          </a:p>
          <a:p>
            <a:pPr lvl="1"/>
            <a:r>
              <a:rPr lang="fi-FI" b="1" dirty="0"/>
              <a:t>Eikä tilausta, joka kuuluisi useammalle kuin yhdelle asiakkaalle</a:t>
            </a:r>
          </a:p>
        </p:txBody>
      </p:sp>
      <p:pic>
        <p:nvPicPr>
          <p:cNvPr id="5" name="Kuva 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14EF1234-CDDF-9F0E-D113-F54E04900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13" y="1690688"/>
            <a:ext cx="1533559" cy="4007996"/>
          </a:xfrm>
          <a:prstGeom prst="rect">
            <a:avLst/>
          </a:prstGeom>
        </p:spPr>
      </p:pic>
      <p:sp>
        <p:nvSpPr>
          <p:cNvPr id="6" name="Ellipsi 5">
            <a:extLst>
              <a:ext uri="{FF2B5EF4-FFF2-40B4-BE49-F238E27FC236}">
                <a16:creationId xmlns:a16="http://schemas.microsoft.com/office/drawing/2014/main" id="{E72E8468-B140-4F38-7897-130E9E644682}"/>
              </a:ext>
            </a:extLst>
          </p:cNvPr>
          <p:cNvSpPr/>
          <p:nvPr/>
        </p:nvSpPr>
        <p:spPr>
          <a:xfrm>
            <a:off x="10058379" y="2988822"/>
            <a:ext cx="809625" cy="7429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4E257016-0A6E-1C20-CE3D-AA7E1D366C70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3F59AB84-8014-A788-AFD1-835F8DC9E68F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0ED34317-3C7B-9A56-9650-DB2544D69925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A4603514-1D38-09C0-2E20-34E682A7D205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460EBFF4-7044-B766-4B57-82E261254F58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391298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E717-9CBC-172E-24A1-2B562570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8285803-763C-06F3-A6D0-48A07825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/>
              <a:t>Suhteen </a:t>
            </a:r>
            <a:r>
              <a:rPr lang="fi-FI" b="1" dirty="0" err="1"/>
              <a:t>kardinaliteetti</a:t>
            </a:r>
            <a:r>
              <a:rPr lang="fi-FI" b="1" dirty="0"/>
              <a:t> 2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08D2F96-3185-1E8E-0E47-584F6BE55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15375" cy="4351338"/>
          </a:xfrm>
        </p:spPr>
        <p:txBody>
          <a:bodyPr/>
          <a:lstStyle/>
          <a:p>
            <a:r>
              <a:rPr lang="fi-FI" dirty="0" err="1"/>
              <a:t>Tilausepuolella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Yhdistävässä viivassa on tilauspuolella pallo ja kolme viivaa alaspäin</a:t>
            </a:r>
          </a:p>
          <a:p>
            <a:pPr lvl="1"/>
            <a:r>
              <a:rPr lang="fi-FI" dirty="0"/>
              <a:t>Se tarkoittaa sitä, että </a:t>
            </a:r>
            <a:r>
              <a:rPr lang="fi-FI" b="1" dirty="0"/>
              <a:t>yhdellä asiakkaalla voi olla yksi tai useampi tilaus. Eli 1 tai enemmän</a:t>
            </a:r>
          </a:p>
          <a:p>
            <a:pPr lvl="1"/>
            <a:r>
              <a:rPr lang="fi-FI" b="1" dirty="0"/>
              <a:t>Ei myöskään voi olla tilausta, joka ei kuulu kellekään.</a:t>
            </a:r>
          </a:p>
          <a:p>
            <a:pPr lvl="1"/>
            <a:r>
              <a:rPr lang="fi-FI" b="1" dirty="0"/>
              <a:t>Eikä tilausta, joka kuuluisi useammalle kuin yhdelle asiakkaalle</a:t>
            </a:r>
          </a:p>
        </p:txBody>
      </p:sp>
      <p:pic>
        <p:nvPicPr>
          <p:cNvPr id="5" name="Kuva 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C46E0A07-08D1-3281-5388-03CABF1F9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13" y="1690688"/>
            <a:ext cx="1533559" cy="4007996"/>
          </a:xfrm>
          <a:prstGeom prst="rect">
            <a:avLst/>
          </a:prstGeom>
        </p:spPr>
      </p:pic>
      <p:sp>
        <p:nvSpPr>
          <p:cNvPr id="6" name="Ellipsi 5">
            <a:extLst>
              <a:ext uri="{FF2B5EF4-FFF2-40B4-BE49-F238E27FC236}">
                <a16:creationId xmlns:a16="http://schemas.microsoft.com/office/drawing/2014/main" id="{29C07CD8-BF33-7F9C-ACD9-CCAE0F2B5BE6}"/>
              </a:ext>
            </a:extLst>
          </p:cNvPr>
          <p:cNvSpPr/>
          <p:nvPr/>
        </p:nvSpPr>
        <p:spPr>
          <a:xfrm>
            <a:off x="10058379" y="3617472"/>
            <a:ext cx="809625" cy="7429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BE5FA2A2-28A0-3703-3AAF-C6DE53D9C1E7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7FAF3F01-3405-F71B-A520-1B4369407C95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EAA26B28-7B4F-B2EF-FF38-59329AE97417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46484586-2BFF-416A-8B31-E7F0CDB5FB2D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6E0BA68F-DAD5-019C-CF1A-238121A1CEDC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66929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3D4E29C-570D-84FD-C4CB-FE630C3E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/>
              <a:t>Suhteen </a:t>
            </a:r>
            <a:r>
              <a:rPr lang="fi-FI" b="1" dirty="0" err="1"/>
              <a:t>kardinaliteetti</a:t>
            </a:r>
            <a:r>
              <a:rPr lang="fi-FI" b="1" dirty="0"/>
              <a:t> 3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2141F6D-C301-1FCD-7028-DB99542A6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43355" cy="4351338"/>
          </a:xfrm>
        </p:spPr>
        <p:txBody>
          <a:bodyPr>
            <a:normAutofit/>
          </a:bodyPr>
          <a:lstStyle/>
          <a:p>
            <a:r>
              <a:rPr lang="fi-FI" dirty="0"/>
              <a:t>Yksi entiteetti on suorassa suhteessa toiseen entiteettiin</a:t>
            </a:r>
          </a:p>
          <a:p>
            <a:r>
              <a:rPr lang="fi-FI" dirty="0"/>
              <a:t>”Yhdellä henkilöllä on vain yksi passi. Tietty passi kuuluu yhdelle henkilölle”.</a:t>
            </a:r>
          </a:p>
          <a:p>
            <a:r>
              <a:rPr lang="fi-FI" dirty="0"/>
              <a:t>Toisaalta…. on paljon ihmisiä, joilla ei ole passia ollenkaan. </a:t>
            </a:r>
          </a:p>
          <a:p>
            <a:r>
              <a:rPr lang="fi-FI" dirty="0"/>
              <a:t>Katso kuva 2. </a:t>
            </a:r>
          </a:p>
        </p:txBody>
      </p:sp>
      <p:pic>
        <p:nvPicPr>
          <p:cNvPr id="7" name="Kuva 6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40A606C7-E05C-6B85-A5A6-A1A73F15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966" y="1688100"/>
            <a:ext cx="1410191" cy="3500738"/>
          </a:xfrm>
          <a:prstGeom prst="rect">
            <a:avLst/>
          </a:prstGeom>
        </p:spPr>
      </p:pic>
      <p:pic>
        <p:nvPicPr>
          <p:cNvPr id="10" name="Kuva 9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EA3B04F6-1561-AF2E-416C-8B455234F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196" y="1688100"/>
            <a:ext cx="1410191" cy="3481800"/>
          </a:xfrm>
          <a:prstGeom prst="rect">
            <a:avLst/>
          </a:prstGeom>
        </p:spPr>
      </p:pic>
      <p:sp>
        <p:nvSpPr>
          <p:cNvPr id="11" name="Tekstiruutu 10">
            <a:extLst>
              <a:ext uri="{FF2B5EF4-FFF2-40B4-BE49-F238E27FC236}">
                <a16:creationId xmlns:a16="http://schemas.microsoft.com/office/drawing/2014/main" id="{616143ED-7BF5-08E5-1EA8-B200BB9EBB64}"/>
              </a:ext>
            </a:extLst>
          </p:cNvPr>
          <p:cNvSpPr txBox="1"/>
          <p:nvPr/>
        </p:nvSpPr>
        <p:spPr>
          <a:xfrm>
            <a:off x="8520545" y="5455227"/>
            <a:ext cx="254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Kuva 1.                    Kuva 2.</a:t>
            </a:r>
          </a:p>
        </p:txBody>
      </p:sp>
      <p:sp>
        <p:nvSpPr>
          <p:cNvPr id="12" name="Ellipsi 11">
            <a:extLst>
              <a:ext uri="{FF2B5EF4-FFF2-40B4-BE49-F238E27FC236}">
                <a16:creationId xmlns:a16="http://schemas.microsoft.com/office/drawing/2014/main" id="{624EE8FB-529C-36DC-6313-30AF41467271}"/>
              </a:ext>
            </a:extLst>
          </p:cNvPr>
          <p:cNvSpPr/>
          <p:nvPr/>
        </p:nvSpPr>
        <p:spPr>
          <a:xfrm>
            <a:off x="8680248" y="2562795"/>
            <a:ext cx="809625" cy="7429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" name="Ellipsi 12">
            <a:extLst>
              <a:ext uri="{FF2B5EF4-FFF2-40B4-BE49-F238E27FC236}">
                <a16:creationId xmlns:a16="http://schemas.microsoft.com/office/drawing/2014/main" id="{9168ACBF-457A-1BFD-F67D-57C205883F9A}"/>
              </a:ext>
            </a:extLst>
          </p:cNvPr>
          <p:cNvSpPr/>
          <p:nvPr/>
        </p:nvSpPr>
        <p:spPr>
          <a:xfrm>
            <a:off x="10356087" y="2585013"/>
            <a:ext cx="809625" cy="7429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012F5F91-768F-1145-8A37-20F85B7E78EB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4" name="Suorakulmio 13">
            <a:extLst>
              <a:ext uri="{FF2B5EF4-FFF2-40B4-BE49-F238E27FC236}">
                <a16:creationId xmlns:a16="http://schemas.microsoft.com/office/drawing/2014/main" id="{5E43AD5A-AC8A-ACCD-9465-175606358FC4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5" name="Suorakulmio 14">
            <a:extLst>
              <a:ext uri="{FF2B5EF4-FFF2-40B4-BE49-F238E27FC236}">
                <a16:creationId xmlns:a16="http://schemas.microsoft.com/office/drawing/2014/main" id="{368350E0-DBE2-4E73-BFF1-5793B4EB47E7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6" name="Suorakulmio 15">
            <a:extLst>
              <a:ext uri="{FF2B5EF4-FFF2-40B4-BE49-F238E27FC236}">
                <a16:creationId xmlns:a16="http://schemas.microsoft.com/office/drawing/2014/main" id="{77EDDBBA-00A4-7ECD-A25E-618A5E60B39D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7" name="Tekstiruutu 16">
            <a:extLst>
              <a:ext uri="{FF2B5EF4-FFF2-40B4-BE49-F238E27FC236}">
                <a16:creationId xmlns:a16="http://schemas.microsoft.com/office/drawing/2014/main" id="{BBFC93B9-3EDB-BC09-7F44-245B5BB98966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972423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BB0DE8-06F1-2C17-9660-B503B99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i-FI" b="1" dirty="0" err="1"/>
              <a:t>Kardinaliteettien</a:t>
            </a:r>
            <a:r>
              <a:rPr lang="fi-FI" b="1" dirty="0"/>
              <a:t> yhteenveto</a:t>
            </a:r>
          </a:p>
        </p:txBody>
      </p:sp>
      <p:pic>
        <p:nvPicPr>
          <p:cNvPr id="11" name="Kuva 10" descr="Kuva, joka sisältää kohteen teksti, Fontti, kuvakaappaus, kuitti&#10;&#10;Tekoälyllä luotu sisältö voi olla virheellistä.">
            <a:extLst>
              <a:ext uri="{FF2B5EF4-FFF2-40B4-BE49-F238E27FC236}">
                <a16:creationId xmlns:a16="http://schemas.microsoft.com/office/drawing/2014/main" id="{61F844F8-222E-FCA5-81C8-46B0BD62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475"/>
          <a:stretch>
            <a:fillRect/>
          </a:stretch>
        </p:blipFill>
        <p:spPr>
          <a:xfrm>
            <a:off x="1838937" y="1742504"/>
            <a:ext cx="8639592" cy="1747637"/>
          </a:xfrm>
          <a:prstGeom prst="rect">
            <a:avLst/>
          </a:prstGeom>
        </p:spPr>
      </p:pic>
      <p:sp>
        <p:nvSpPr>
          <p:cNvPr id="7" name="Suorakulmio 6">
            <a:extLst>
              <a:ext uri="{FF2B5EF4-FFF2-40B4-BE49-F238E27FC236}">
                <a16:creationId xmlns:a16="http://schemas.microsoft.com/office/drawing/2014/main" id="{F7012547-41CE-0B5C-2C95-39356FABE0D1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232A17A5-1AF3-AB62-D4FE-5A90411CFB98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A0F8E715-AD69-2604-DF83-294247550E10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DA848E23-7073-770D-6D61-CAE7BEFB6F6B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2FAF533-DF34-F462-6F85-C8EAC54AFEFD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2058623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1.6- Creating a Killer Crow's Foot ER Diagram: The Art ...">
            <a:extLst>
              <a:ext uri="{FF2B5EF4-FFF2-40B4-BE49-F238E27FC236}">
                <a16:creationId xmlns:a16="http://schemas.microsoft.com/office/drawing/2014/main" id="{36828CE2-033A-B11A-BCC0-C1A30CE2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" y="0"/>
            <a:ext cx="309562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ows Feet, for simple ERD - OmniGraffle Stencil and Template Requests -  The Omni Group User Forums">
            <a:extLst>
              <a:ext uri="{FF2B5EF4-FFF2-40B4-BE49-F238E27FC236}">
                <a16:creationId xmlns:a16="http://schemas.microsoft.com/office/drawing/2014/main" id="{C884E33D-257E-8A88-C432-A7D14B34A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" y="4978111"/>
            <a:ext cx="227647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R Crow's foot notation · Issue #532 · umlet/umlet">
            <a:extLst>
              <a:ext uri="{FF2B5EF4-FFF2-40B4-BE49-F238E27FC236}">
                <a16:creationId xmlns:a16="http://schemas.microsoft.com/office/drawing/2014/main" id="{EE6A2254-D53C-61F9-04C1-EEFD72E07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718" y="52388"/>
            <a:ext cx="60960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row's Foot Notation | EdrawMax Templates">
            <a:extLst>
              <a:ext uri="{FF2B5EF4-FFF2-40B4-BE49-F238E27FC236}">
                <a16:creationId xmlns:a16="http://schemas.microsoft.com/office/drawing/2014/main" id="{5E0CDCF2-747D-BF7C-8FB8-E6D21BB56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53" y="2857499"/>
            <a:ext cx="3373093" cy="249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708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42F5363-EA09-26F7-031C-346EDADE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Tilauksen ja tuotteen välinen suhde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9962C38-A560-11F2-955B-92FF67DA6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D3F2732A-C4EF-C8BA-83A8-BF6DF70FC9B0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E86EA8AC-445D-7B0D-84CA-8AE37E6EE716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2F7E1709-C5D7-36D8-31AA-3E59990FF205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D0ABBFC1-754A-C68D-BA58-1A856BA7894B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78116472-9D3C-D47B-5515-4CEA3EFFA578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3247666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C813DB6-0186-27F6-3F75-5965CF0B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Valmis ERD-kaavio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A13409C-44C5-1C53-FAA9-5E4853A6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F3EE26C0-2F3D-6DE0-B910-CE0E2E8D06BE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ACDB6D00-A4C7-5C89-9C84-88811324E026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7C92620E-FA7A-0501-3CAA-90839C50FD6F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highlight>
                <a:srgbClr val="FFFF00"/>
              </a:highlight>
            </a:endParaRP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23F748DD-C978-9652-A25F-8141E5C29ECF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C9B21B2D-EB93-13C5-FD9D-490D71F7CD6F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687753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4A0A3A9-2A0A-87E3-F8A3-DA4A6DB6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 err="1"/>
              <a:t>ERD:stä</a:t>
            </a:r>
            <a:r>
              <a:rPr lang="fi-FI" b="1" dirty="0"/>
              <a:t> suoraan tietokantaan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1D87482-285A-E1F1-C32D-766F1DCC8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fi-FI" dirty="0"/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BC418120-CA10-37FA-CDFB-1DF1939DF0EF}"/>
              </a:ext>
            </a:extLst>
          </p:cNvPr>
          <p:cNvSpPr/>
          <p:nvPr/>
        </p:nvSpPr>
        <p:spPr>
          <a:xfrm>
            <a:off x="9985431" y="73938"/>
            <a:ext cx="2160000" cy="25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highlight>
                <a:srgbClr val="FFFF00"/>
              </a:highlight>
            </a:endParaRPr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C1C60A0D-8BDF-817D-3768-F71D6AFACDB9}"/>
              </a:ext>
            </a:extLst>
          </p:cNvPr>
          <p:cNvSpPr/>
          <p:nvPr/>
        </p:nvSpPr>
        <p:spPr>
          <a:xfrm>
            <a:off x="9985431" y="378034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86843B1C-CE0F-E996-8CF0-29CBA00788D8}"/>
              </a:ext>
            </a:extLst>
          </p:cNvPr>
          <p:cNvSpPr/>
          <p:nvPr/>
        </p:nvSpPr>
        <p:spPr>
          <a:xfrm>
            <a:off x="9985431" y="975335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2119BB29-CE0A-D11E-F244-5C9243678BF4}"/>
              </a:ext>
            </a:extLst>
          </p:cNvPr>
          <p:cNvSpPr/>
          <p:nvPr/>
        </p:nvSpPr>
        <p:spPr>
          <a:xfrm>
            <a:off x="9985431" y="681850"/>
            <a:ext cx="2160000" cy="25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  <a:p>
            <a:pPr algn="ctr"/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70DB39D9-61C3-1440-6DCE-F64F3F1B7CC9}"/>
              </a:ext>
            </a:extLst>
          </p:cNvPr>
          <p:cNvSpPr txBox="1"/>
          <p:nvPr/>
        </p:nvSpPr>
        <p:spPr>
          <a:xfrm>
            <a:off x="10126405" y="51741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/>
              <a:t>ENTITEETTI</a:t>
            </a:r>
            <a:br>
              <a:rPr lang="fi-FI" dirty="0"/>
            </a:br>
            <a:r>
              <a:rPr lang="fi-FI" dirty="0"/>
              <a:t>ATTRIBUUTTI</a:t>
            </a:r>
            <a:br>
              <a:rPr lang="fi-FI" dirty="0"/>
            </a:br>
            <a:r>
              <a:rPr lang="fi-FI" dirty="0"/>
              <a:t>SUHDE</a:t>
            </a:r>
            <a:br>
              <a:rPr lang="fi-FI" dirty="0"/>
            </a:br>
            <a:r>
              <a:rPr lang="fi-FI" dirty="0"/>
              <a:t>KARDINALITEETTI</a:t>
            </a:r>
          </a:p>
        </p:txBody>
      </p:sp>
    </p:spTree>
    <p:extLst>
      <p:ext uri="{BB962C8B-B14F-4D97-AF65-F5344CB8AC3E}">
        <p14:creationId xmlns:p14="http://schemas.microsoft.com/office/powerpoint/2010/main" val="1619682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C9C3636-A63F-8FFF-AB1F-E52B8E60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Lopetus ja jatko-opiskelu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CE25374-D4E6-1EE0-58C0-201E05881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58659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C298B41-C36D-32BD-DF0A-CAD26BF5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Työkaluna </a:t>
            </a:r>
            <a:r>
              <a:rPr lang="fi-FI" b="1" dirty="0" err="1"/>
              <a:t>Mermaid</a:t>
            </a:r>
            <a:r>
              <a:rPr lang="fi-FI" b="1" dirty="0"/>
              <a:t> </a:t>
            </a:r>
            <a:r>
              <a:rPr lang="fi-FI" b="1" dirty="0" err="1"/>
              <a:t>VSCodessa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BFD9C6F-8494-9B54-500D-89E61CAC8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AutoNum type="arabicPeriod"/>
            </a:pPr>
            <a:r>
              <a:rPr lang="fi-FI" dirty="0"/>
              <a:t>Asenna laajennus:</a:t>
            </a:r>
          </a:p>
          <a:p>
            <a:pPr lvl="1"/>
            <a:r>
              <a:rPr lang="fi-FI" dirty="0" err="1"/>
              <a:t>Ctrl+Shift+x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 </a:t>
            </a:r>
            <a:r>
              <a:rPr lang="fi-FI" dirty="0" err="1">
                <a:sym typeface="Wingdings" panose="05000000000000000000" pitchFamily="2" charset="2"/>
              </a:rPr>
              <a:t>Markdown</a:t>
            </a:r>
            <a:r>
              <a:rPr lang="fi-FI" dirty="0">
                <a:sym typeface="Wingdings" panose="05000000000000000000" pitchFamily="2" charset="2"/>
              </a:rPr>
              <a:t> Preview </a:t>
            </a:r>
            <a:r>
              <a:rPr lang="fi-FI" dirty="0" err="1">
                <a:sym typeface="Wingdings" panose="05000000000000000000" pitchFamily="2" charset="2"/>
              </a:rPr>
              <a:t>Mermaid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Support</a:t>
            </a:r>
            <a:r>
              <a:rPr lang="fi-FI" dirty="0">
                <a:sym typeface="Wingdings" panose="05000000000000000000" pitchFamily="2" charset="2"/>
              </a:rPr>
              <a:t> (julk. </a:t>
            </a:r>
            <a:r>
              <a:rPr lang="fi-FI" dirty="0" err="1">
                <a:sym typeface="Wingdings" panose="05000000000000000000" pitchFamily="2" charset="2"/>
              </a:rPr>
              <a:t>Bierner</a:t>
            </a:r>
            <a:r>
              <a:rPr lang="fi-FI" dirty="0">
                <a:sym typeface="Wingdings" panose="05000000000000000000" pitchFamily="2" charset="2"/>
              </a:rPr>
              <a:t>)</a:t>
            </a: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Salli </a:t>
            </a:r>
            <a:r>
              <a:rPr lang="fi-FI" dirty="0" err="1">
                <a:sym typeface="Wingdings" panose="05000000000000000000" pitchFamily="2" charset="2"/>
              </a:rPr>
              <a:t>Mermaid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Markdown</a:t>
            </a:r>
            <a:r>
              <a:rPr lang="fi-FI" dirty="0">
                <a:sym typeface="Wingdings" panose="05000000000000000000" pitchFamily="2" charset="2"/>
              </a:rPr>
              <a:t> esikatselussa</a:t>
            </a:r>
          </a:p>
          <a:p>
            <a:pPr lvl="1"/>
            <a:r>
              <a:rPr lang="fi-FI" dirty="0" err="1">
                <a:sym typeface="Wingdings" panose="05000000000000000000" pitchFamily="2" charset="2"/>
              </a:rPr>
              <a:t>Ctrl+Shift+P</a:t>
            </a:r>
            <a:r>
              <a:rPr lang="fi-FI" dirty="0">
                <a:sym typeface="Wingdings" panose="05000000000000000000" pitchFamily="2" charset="2"/>
              </a:rPr>
              <a:t>  </a:t>
            </a:r>
            <a:r>
              <a:rPr lang="fi-FI" b="1" dirty="0" err="1">
                <a:sym typeface="Wingdings" panose="05000000000000000000" pitchFamily="2" charset="2"/>
              </a:rPr>
              <a:t>Preferences</a:t>
            </a:r>
            <a:r>
              <a:rPr lang="fi-FI" b="1" dirty="0">
                <a:sym typeface="Wingdings" panose="05000000000000000000" pitchFamily="2" charset="2"/>
              </a:rPr>
              <a:t> Open User </a:t>
            </a:r>
            <a:r>
              <a:rPr lang="fi-FI" b="1" dirty="0" err="1">
                <a:sym typeface="Wingdings" panose="05000000000000000000" pitchFamily="2" charset="2"/>
              </a:rPr>
              <a:t>Settings</a:t>
            </a:r>
            <a:r>
              <a:rPr lang="fi-FI" b="1" dirty="0">
                <a:sym typeface="Wingdings" panose="05000000000000000000" pitchFamily="2" charset="2"/>
              </a:rPr>
              <a:t> </a:t>
            </a:r>
            <a:br>
              <a:rPr lang="fi-FI" b="1" dirty="0">
                <a:sym typeface="Wingdings" panose="05000000000000000000" pitchFamily="2" charset="2"/>
              </a:rPr>
            </a:br>
            <a:r>
              <a:rPr lang="fi-FI" dirty="0">
                <a:sym typeface="Wingdings" panose="05000000000000000000" pitchFamily="2" charset="2"/>
              </a:rPr>
              <a:t>(JSON)</a:t>
            </a:r>
            <a:br>
              <a:rPr lang="fi-FI" dirty="0">
                <a:sym typeface="Wingdings" panose="05000000000000000000" pitchFamily="2" charset="2"/>
              </a:rPr>
            </a:br>
            <a:r>
              <a:rPr lang="fi-FI" dirty="0">
                <a:sym typeface="Wingdings" panose="05000000000000000000" pitchFamily="2" charset="2"/>
              </a:rPr>
              <a:t> lisää "</a:t>
            </a:r>
            <a:r>
              <a:rPr lang="fi-FI" dirty="0" err="1">
                <a:sym typeface="Wingdings" panose="05000000000000000000" pitchFamily="2" charset="2"/>
              </a:rPr>
              <a:t>markdown.preview.mermaid</a:t>
            </a:r>
            <a:r>
              <a:rPr lang="fi-FI" dirty="0">
                <a:sym typeface="Wingdings" panose="05000000000000000000" pitchFamily="2" charset="2"/>
              </a:rPr>
              <a:t>": </a:t>
            </a:r>
            <a:r>
              <a:rPr lang="fi-FI" dirty="0" err="1">
                <a:sym typeface="Wingdings" panose="05000000000000000000" pitchFamily="2" charset="2"/>
              </a:rPr>
              <a:t>true</a:t>
            </a:r>
            <a:endParaRPr lang="fi-FI" dirty="0">
              <a:sym typeface="Wingdings" panose="05000000000000000000" pitchFamily="2" charset="2"/>
            </a:endParaRPr>
          </a:p>
          <a:p>
            <a:pPr lvl="1"/>
            <a:r>
              <a:rPr lang="fi-FI" dirty="0">
                <a:sym typeface="Wingdings" panose="05000000000000000000" pitchFamily="2" charset="2"/>
              </a:rPr>
              <a:t>Tallenna: </a:t>
            </a:r>
            <a:r>
              <a:rPr lang="fi-FI" dirty="0" err="1">
                <a:sym typeface="Wingdings" panose="05000000000000000000" pitchFamily="2" charset="2"/>
              </a:rPr>
              <a:t>ctrl+s</a:t>
            </a:r>
            <a:endParaRPr lang="fi-FI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Avaa </a:t>
            </a:r>
            <a:r>
              <a:rPr lang="fi-FI" dirty="0" err="1">
                <a:sym typeface="Wingdings" panose="05000000000000000000" pitchFamily="2" charset="2"/>
              </a:rPr>
              <a:t>VSCodessa</a:t>
            </a:r>
            <a:r>
              <a:rPr lang="fi-FI" dirty="0">
                <a:sym typeface="Wingdings" panose="05000000000000000000" pitchFamily="2" charset="2"/>
              </a:rPr>
              <a:t> .</a:t>
            </a:r>
            <a:r>
              <a:rPr lang="fi-FI" dirty="0" err="1">
                <a:sym typeface="Wingdings" panose="05000000000000000000" pitchFamily="2" charset="2"/>
              </a:rPr>
              <a:t>md-</a:t>
            </a:r>
            <a:r>
              <a:rPr lang="fi-FI" dirty="0">
                <a:sym typeface="Wingdings" panose="05000000000000000000" pitchFamily="2" charset="2"/>
              </a:rPr>
              <a:t> tiedosto</a:t>
            </a: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Avaa esikatselu </a:t>
            </a:r>
            <a:r>
              <a:rPr lang="fi-FI" dirty="0" err="1">
                <a:sym typeface="Wingdings" panose="05000000000000000000" pitchFamily="2" charset="2"/>
              </a:rPr>
              <a:t>Ctrl+Shift+V</a:t>
            </a:r>
            <a:endParaRPr lang="fi-FI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Kirjoita oikealla näkyvä testikoodi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Katso esikatselusta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Onnistuiko?</a:t>
            </a:r>
          </a:p>
          <a:p>
            <a:pPr marL="514350" indent="-514350">
              <a:buAutoNum type="arabicPeriod"/>
            </a:pPr>
            <a:endParaRPr lang="fi-FI" dirty="0"/>
          </a:p>
        </p:txBody>
      </p:sp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5FDB707C-30D3-8775-7DFA-969BA12B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795" y="4301835"/>
            <a:ext cx="3417863" cy="2274432"/>
          </a:xfrm>
          <a:prstGeom prst="rect">
            <a:avLst/>
          </a:prstGeom>
        </p:spPr>
      </p:pic>
      <p:pic>
        <p:nvPicPr>
          <p:cNvPr id="8" name="Kuva 7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D49FBABB-211E-A915-950C-C1FEEADC2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495" y="4146470"/>
            <a:ext cx="1047896" cy="2638793"/>
          </a:xfrm>
          <a:prstGeom prst="rect">
            <a:avLst/>
          </a:prstGeom>
        </p:spPr>
      </p:pic>
      <p:sp>
        <p:nvSpPr>
          <p:cNvPr id="9" name="Nuoli: Oikea 8">
            <a:extLst>
              <a:ext uri="{FF2B5EF4-FFF2-40B4-BE49-F238E27FC236}">
                <a16:creationId xmlns:a16="http://schemas.microsoft.com/office/drawing/2014/main" id="{8B0C769E-7F20-FA22-4E83-A5312C1AD9E2}"/>
              </a:ext>
            </a:extLst>
          </p:cNvPr>
          <p:cNvSpPr/>
          <p:nvPr/>
        </p:nvSpPr>
        <p:spPr>
          <a:xfrm>
            <a:off x="10785764" y="5153891"/>
            <a:ext cx="280554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202FCDF-3608-2E2B-736D-A3F3113E8DA7}"/>
              </a:ext>
            </a:extLst>
          </p:cNvPr>
          <p:cNvSpPr txBox="1"/>
          <p:nvPr/>
        </p:nvSpPr>
        <p:spPr>
          <a:xfrm>
            <a:off x="8732038" y="3062735"/>
            <a:ext cx="1647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Koodin alussa:</a:t>
            </a:r>
            <a:br>
              <a:rPr lang="fi-FI" dirty="0"/>
            </a:br>
            <a:endParaRPr lang="fi-FI" dirty="0"/>
          </a:p>
        </p:txBody>
      </p:sp>
      <p:sp>
        <p:nvSpPr>
          <p:cNvPr id="13" name="Suorakulmio: Pyöristetyt kulmat 12">
            <a:extLst>
              <a:ext uri="{FF2B5EF4-FFF2-40B4-BE49-F238E27FC236}">
                <a16:creationId xmlns:a16="http://schemas.microsoft.com/office/drawing/2014/main" id="{37429470-50BF-F96C-877F-48BB891C0BF0}"/>
              </a:ext>
            </a:extLst>
          </p:cNvPr>
          <p:cNvSpPr/>
          <p:nvPr/>
        </p:nvSpPr>
        <p:spPr>
          <a:xfrm>
            <a:off x="8531514" y="3429000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800" b="1" dirty="0"/>
              <a:t>↑</a:t>
            </a:r>
            <a:endParaRPr lang="fi-FI" b="1" dirty="0"/>
          </a:p>
        </p:txBody>
      </p:sp>
      <p:grpSp>
        <p:nvGrpSpPr>
          <p:cNvPr id="18" name="Ryhmä 17">
            <a:extLst>
              <a:ext uri="{FF2B5EF4-FFF2-40B4-BE49-F238E27FC236}">
                <a16:creationId xmlns:a16="http://schemas.microsoft.com/office/drawing/2014/main" id="{A21F5F99-EBB5-5EF9-388F-33B1A77B397A}"/>
              </a:ext>
            </a:extLst>
          </p:cNvPr>
          <p:cNvGrpSpPr/>
          <p:nvPr/>
        </p:nvGrpSpPr>
        <p:grpSpPr>
          <a:xfrm>
            <a:off x="10013594" y="3403726"/>
            <a:ext cx="655562" cy="617858"/>
            <a:chOff x="10940694" y="3403726"/>
            <a:chExt cx="655562" cy="617858"/>
          </a:xfrm>
        </p:grpSpPr>
        <p:sp>
          <p:nvSpPr>
            <p:cNvPr id="14" name="Suorakulmio: Pyöristetyt kulmat 13">
              <a:extLst>
                <a:ext uri="{FF2B5EF4-FFF2-40B4-BE49-F238E27FC236}">
                  <a16:creationId xmlns:a16="http://schemas.microsoft.com/office/drawing/2014/main" id="{2C1F4DEA-E526-C121-9C57-8731A222F746}"/>
                </a:ext>
              </a:extLst>
            </p:cNvPr>
            <p:cNvSpPr/>
            <p:nvPr/>
          </p:nvSpPr>
          <p:spPr>
            <a:xfrm>
              <a:off x="10940694" y="3438124"/>
              <a:ext cx="655562" cy="5834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dirty="0"/>
            </a:p>
          </p:txBody>
        </p:sp>
        <p:sp>
          <p:nvSpPr>
            <p:cNvPr id="15" name="Tekstiruutu 14">
              <a:extLst>
                <a:ext uri="{FF2B5EF4-FFF2-40B4-BE49-F238E27FC236}">
                  <a16:creationId xmlns:a16="http://schemas.microsoft.com/office/drawing/2014/main" id="{0ADEFD45-C4C0-478C-8D4F-3B69994E3463}"/>
                </a:ext>
              </a:extLst>
            </p:cNvPr>
            <p:cNvSpPr txBox="1"/>
            <p:nvPr/>
          </p:nvSpPr>
          <p:spPr>
            <a:xfrm>
              <a:off x="11100911" y="3403726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sz="3200" b="1" dirty="0">
                  <a:solidFill>
                    <a:schemeClr val="bg1"/>
                  </a:solidFill>
                </a:rPr>
                <a:t>`</a:t>
              </a:r>
            </a:p>
          </p:txBody>
        </p:sp>
      </p:grpSp>
      <p:sp>
        <p:nvSpPr>
          <p:cNvPr id="17" name="Tekstiruutu 16">
            <a:extLst>
              <a:ext uri="{FF2B5EF4-FFF2-40B4-BE49-F238E27FC236}">
                <a16:creationId xmlns:a16="http://schemas.microsoft.com/office/drawing/2014/main" id="{F1802B20-44B3-4518-8FFC-F3411692431D}"/>
              </a:ext>
            </a:extLst>
          </p:cNvPr>
          <p:cNvSpPr txBox="1"/>
          <p:nvPr/>
        </p:nvSpPr>
        <p:spPr>
          <a:xfrm>
            <a:off x="11066550" y="3709066"/>
            <a:ext cx="39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b="1" dirty="0">
                <a:solidFill>
                  <a:schemeClr val="bg1"/>
                </a:solidFill>
              </a:rPr>
              <a:t>´</a:t>
            </a:r>
          </a:p>
        </p:txBody>
      </p:sp>
      <p:sp>
        <p:nvSpPr>
          <p:cNvPr id="19" name="Suorakulmio: Pyöristetyt kulmat 18">
            <a:extLst>
              <a:ext uri="{FF2B5EF4-FFF2-40B4-BE49-F238E27FC236}">
                <a16:creationId xmlns:a16="http://schemas.microsoft.com/office/drawing/2014/main" id="{1C99F22F-1798-3EC4-A256-32E04C7F090E}"/>
              </a:ext>
            </a:extLst>
          </p:cNvPr>
          <p:cNvSpPr/>
          <p:nvPr/>
        </p:nvSpPr>
        <p:spPr>
          <a:xfrm>
            <a:off x="10915674" y="3419876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400" b="1" dirty="0" err="1"/>
              <a:t>space</a:t>
            </a:r>
            <a:endParaRPr lang="fi-FI" sz="1600" b="1" dirty="0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D21E5441-497B-3B53-3765-97F4EFDF6A42}"/>
              </a:ext>
            </a:extLst>
          </p:cNvPr>
          <p:cNvSpPr txBox="1"/>
          <p:nvPr/>
        </p:nvSpPr>
        <p:spPr>
          <a:xfrm>
            <a:off x="9742367" y="35650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264964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D3D2F3B-5881-1C67-61DF-01F5E066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3D67607-4F69-13A6-192E-24935C31E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17" name="Kuva 16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A6BFD5AC-AD85-11B8-0ED3-3EC3AEE8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343" y="4073163"/>
            <a:ext cx="2216264" cy="1625684"/>
          </a:xfrm>
          <a:prstGeom prst="rect">
            <a:avLst/>
          </a:prstGeom>
        </p:spPr>
      </p:pic>
      <p:pic>
        <p:nvPicPr>
          <p:cNvPr id="21" name="Kuva 20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58555D92-B28B-D148-485F-89AEE8AB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88" y="4013756"/>
            <a:ext cx="2025754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5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</TotalTime>
  <Words>2406</Words>
  <Application>Microsoft Office PowerPoint</Application>
  <PresentationFormat>Laajakuva</PresentationFormat>
  <Paragraphs>1000</Paragraphs>
  <Slides>27</Slides>
  <Notes>20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Wingdings</vt:lpstr>
      <vt:lpstr>Office-teema</vt:lpstr>
      <vt:lpstr>ERD- kaaviot</vt:lpstr>
      <vt:lpstr>Johdanto: ER- kaaviot (ERD)</vt:lpstr>
      <vt:lpstr>Ensin kuitenkin… Miksi tietokantoja tarvitaan?</vt:lpstr>
      <vt:lpstr>Tietokantojen suunnittelu</vt:lpstr>
      <vt:lpstr>ERD:llä voidaan kuvata tietokannan osia ja osien välisiä suhteita (”relaatioita”)</vt:lpstr>
      <vt:lpstr>Entiteetit: ERD:n perusyksiköt</vt:lpstr>
      <vt:lpstr>Attribuutit: entiteettien ominaisuudet</vt:lpstr>
      <vt:lpstr>Attribuuttien tyyppi</vt:lpstr>
      <vt:lpstr>Miten entiteetit liittyvät toisiinsa?  Suhteet</vt:lpstr>
      <vt:lpstr>Kardinaliteetti 1/3:  suhteen määrällinen luonne</vt:lpstr>
      <vt:lpstr>Kardinaliteetti 2/3:  suhteen määrällinen luonne</vt:lpstr>
      <vt:lpstr>Kardinaliteetti 3/3:  suhteen määrällinen luonne</vt:lpstr>
      <vt:lpstr>Kardinaliteetti:  suhteen määrällinen luonne</vt:lpstr>
      <vt:lpstr>Kardinaliteetti:  suhteen määrällinen luonne</vt:lpstr>
      <vt:lpstr>Asiakkaan ja tilauksen välinen suhde</vt:lpstr>
      <vt:lpstr>Tilauksen ja asiakkaan välinen suhde</vt:lpstr>
      <vt:lpstr>Suhteen kardinaliteetti 1</vt:lpstr>
      <vt:lpstr>Suhteen kardinaliteetti 2</vt:lpstr>
      <vt:lpstr>Suhteen kardinaliteetti 3</vt:lpstr>
      <vt:lpstr>Kardinaliteettien yhteenveto</vt:lpstr>
      <vt:lpstr>PowerPoint-esitys</vt:lpstr>
      <vt:lpstr>Tilauksen ja tuotteen välinen suhde</vt:lpstr>
      <vt:lpstr>Valmis ERD-kaavio</vt:lpstr>
      <vt:lpstr>ERD:stä suoraan tietokantaan</vt:lpstr>
      <vt:lpstr>Lopetus ja jatko-opiskelu</vt:lpstr>
      <vt:lpstr>Työkaluna Mermaid VSCodessa</vt:lpstr>
      <vt:lpstr>PowerPoint-esitys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Antti P.</dc:creator>
  <cp:lastModifiedBy>Antti Perttunen</cp:lastModifiedBy>
  <cp:revision>10</cp:revision>
  <cp:lastPrinted>2025-12-19T07:52:12Z</cp:lastPrinted>
  <dcterms:created xsi:type="dcterms:W3CDTF">2025-12-18T12:30:07Z</dcterms:created>
  <dcterms:modified xsi:type="dcterms:W3CDTF">2026-01-09T14:15:23Z</dcterms:modified>
</cp:coreProperties>
</file>